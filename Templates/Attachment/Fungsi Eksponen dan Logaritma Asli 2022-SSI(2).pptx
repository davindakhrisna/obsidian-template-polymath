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756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340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791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60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019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95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453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540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741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33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10/11/2020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452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10/11/2020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2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E1AED4-C7FF-4468-BF54-4470A0A3E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6F2B40-9B12-4ECF-8A5A-4B7B6E5D69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886" r="-1" b="5823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E94FAB-AA60-43B4-A2C3-3A940B9A9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44000">
                <a:schemeClr val="tx1">
                  <a:alpha val="40000"/>
                </a:schemeClr>
              </a:gs>
              <a:gs pos="100000">
                <a:schemeClr val="tx1">
                  <a:alpha val="7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3D7C9-6EA0-4FB0-9652-9C5959F9B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16721"/>
            <a:ext cx="9144000" cy="1152663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Fungsi Eksponen dan Logaritma Asli</a:t>
            </a:r>
            <a:endParaRPr lang="en-ID" sz="48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F880A-8D31-4CFA-85BC-06BE119E5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636465"/>
            <a:ext cx="9144000" cy="64678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Deni </a:t>
            </a:r>
            <a:r>
              <a:rPr lang="en-US" sz="2000" dirty="0" err="1">
                <a:solidFill>
                  <a:schemeClr val="bg1"/>
                </a:solidFill>
              </a:rPr>
              <a:t>Saepudin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Universitas Telkom</a:t>
            </a:r>
            <a:endParaRPr lang="en-ID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144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B209381-AC22-4431-893D-7FF22262FF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Nilai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ID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B209381-AC22-4431-893D-7FF22262FF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13D74A-FD4E-465A-8DF8-76C81BF475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Nilai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didefinisikan</a:t>
                </a:r>
                <a:r>
                  <a:rPr lang="en-US" dirty="0"/>
                  <a:t> </a:t>
                </a:r>
                <a:r>
                  <a:rPr lang="en-US" dirty="0" err="1"/>
                  <a:t>sebagai</a:t>
                </a:r>
                <a:endParaRPr lang="en-US" dirty="0"/>
              </a:p>
              <a:p>
                <a:pPr marL="0" indent="0">
                  <a:buNone/>
                </a:pPr>
                <a:r>
                  <a:rPr lang="pt-BR" dirty="0"/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pt-BR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ID" dirty="0"/>
                  <a:t> dengan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dirty="0" err="1"/>
                  <a:t>bilangan</a:t>
                </a:r>
                <a:r>
                  <a:rPr lang="en-ID" dirty="0"/>
                  <a:t> </a:t>
                </a:r>
                <a:r>
                  <a:rPr lang="en-ID" dirty="0" err="1"/>
                  <a:t>bulat</a:t>
                </a:r>
                <a:endParaRPr lang="en-ID" dirty="0"/>
              </a:p>
              <a:p>
                <a:r>
                  <a:rPr lang="en-ID" dirty="0"/>
                  <a:t>Akan </a:t>
                </a:r>
                <a:r>
                  <a:rPr lang="en-ID" dirty="0" err="1"/>
                  <a:t>tetapi</a:t>
                </a:r>
                <a:r>
                  <a:rPr lang="en-ID" dirty="0"/>
                  <a:t> </a:t>
                </a:r>
                <a:r>
                  <a:rPr lang="en-ID" dirty="0" err="1"/>
                  <a:t>bila</a:t>
                </a:r>
                <a:r>
                  <a:rPr lang="en-ID" dirty="0"/>
                  <a:t> </a:t>
                </a:r>
                <a:r>
                  <a:rPr lang="en-ID" dirty="0" err="1"/>
                  <a:t>kita</a:t>
                </a:r>
                <a:r>
                  <a:rPr lang="en-ID" dirty="0"/>
                  <a:t> </a:t>
                </a:r>
                <a:r>
                  <a:rPr lang="en-ID" dirty="0" err="1"/>
                  <a:t>ganti</a:t>
                </a:r>
                <a:r>
                  <a:rPr lang="en-ID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D" dirty="0"/>
                  <a:t> </a:t>
                </a:r>
                <a:r>
                  <a:rPr lang="en-ID" dirty="0" err="1"/>
                  <a:t>dengan</a:t>
                </a:r>
                <a:r>
                  <a:rPr lang="en-ID" dirty="0"/>
                  <a:t> </a:t>
                </a:r>
                <a:r>
                  <a:rPr lang="en-ID" dirty="0" err="1"/>
                  <a:t>bilangan</a:t>
                </a:r>
                <a:r>
                  <a:rPr lang="en-ID" dirty="0"/>
                  <a:t> real </a:t>
                </a:r>
                <a:r>
                  <a:rPr lang="en-ID" dirty="0" err="1"/>
                  <a:t>akan</a:t>
                </a:r>
                <a:r>
                  <a:rPr lang="en-ID" dirty="0"/>
                  <a:t> </a:t>
                </a:r>
                <a:r>
                  <a:rPr lang="en-ID" dirty="0" err="1"/>
                  <a:t>diperoleh</a:t>
                </a:r>
                <a:r>
                  <a:rPr lang="en-ID" dirty="0"/>
                  <a:t> </a:t>
                </a:r>
                <a:r>
                  <a:rPr lang="en-ID" dirty="0" err="1"/>
                  <a:t>nilai</a:t>
                </a:r>
                <a:r>
                  <a:rPr lang="en-ID" dirty="0"/>
                  <a:t> limit yang </a:t>
                </a:r>
                <a:r>
                  <a:rPr lang="en-ID" dirty="0" err="1"/>
                  <a:t>sama</a:t>
                </a:r>
                <a:endParaRPr lang="en-ID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f>
                                    <m:f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ID" dirty="0"/>
              </a:p>
              <a:p>
                <a:endParaRPr lang="en-ID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13D74A-FD4E-465A-8DF8-76C81BF475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185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64811B-DC8B-4741-93B4-2916FBE8F6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Perhitungan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ID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64811B-DC8B-4741-93B4-2916FBE8F6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DA137-BD4F-42D7-81F4-3020E4708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Misal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D" dirty="0"/>
                  <a:t> </a:t>
                </a:r>
                <a:r>
                  <a:rPr lang="en-ID" dirty="0" err="1"/>
                  <a:t>maka</a:t>
                </a:r>
                <a:r>
                  <a:rPr lang="en-ID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 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ID" dirty="0"/>
                  <a:t> Sehingga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pt-BR" b="0" i="0" smtClean="0"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p>
                            </m:sSup>
                          </m:e>
                        </m:func>
                      </m:e>
                    </m:func>
                  </m:oMath>
                </a14:m>
                <a:endParaRPr lang="en-ID" dirty="0"/>
              </a:p>
              <a:p>
                <a:r>
                  <a:rPr lang="en-ID" dirty="0" err="1"/>
                  <a:t>Perhitungan</a:t>
                </a:r>
                <a:r>
                  <a:rPr lang="en-ID" dirty="0"/>
                  <a:t> </a:t>
                </a:r>
                <a:r>
                  <a:rPr lang="en-ID" dirty="0" err="1"/>
                  <a:t>dengan</a:t>
                </a:r>
                <a:r>
                  <a:rPr lang="en-ID" dirty="0"/>
                  <a:t> excel </a:t>
                </a:r>
                <a:r>
                  <a:rPr lang="en-ID" dirty="0" err="1"/>
                  <a:t>diperoleh</a:t>
                </a:r>
                <a:r>
                  <a:rPr lang="en-ID" dirty="0"/>
                  <a:t> </a:t>
                </a:r>
                <a:r>
                  <a:rPr lang="en-ID" dirty="0" err="1"/>
                  <a:t>hasil</a:t>
                </a:r>
                <a:r>
                  <a:rPr lang="en-ID" dirty="0"/>
                  <a:t> </a:t>
                </a:r>
                <a:r>
                  <a:rPr lang="en-ID" dirty="0" err="1"/>
                  <a:t>berikut</a:t>
                </a:r>
                <a:endParaRPr lang="en-ID" dirty="0"/>
              </a:p>
              <a:p>
                <a:endParaRPr lang="en-ID" dirty="0"/>
              </a:p>
              <a:p>
                <a:endParaRPr lang="en-ID" dirty="0"/>
              </a:p>
              <a:p>
                <a:endParaRPr lang="en-ID" dirty="0"/>
              </a:p>
              <a:p>
                <a:endParaRPr lang="en-ID" dirty="0"/>
              </a:p>
              <a:p>
                <a:r>
                  <a:rPr lang="en-ID" dirty="0"/>
                  <a:t>Jadi </a:t>
                </a:r>
                <a:r>
                  <a:rPr lang="en-ID" dirty="0" err="1"/>
                  <a:t>bila</a:t>
                </a:r>
                <a:r>
                  <a:rPr lang="en-ID" dirty="0"/>
                  <a:t> </a:t>
                </a:r>
                <a:r>
                  <a:rPr lang="en-ID" dirty="0" err="1"/>
                  <a:t>kita</a:t>
                </a:r>
                <a:r>
                  <a:rPr lang="en-ID" dirty="0"/>
                  <a:t> </a:t>
                </a:r>
                <a:r>
                  <a:rPr lang="en-ID" dirty="0" err="1"/>
                  <a:t>tulis</a:t>
                </a:r>
                <a:r>
                  <a:rPr lang="en-ID" dirty="0"/>
                  <a:t> </a:t>
                </a:r>
                <a:r>
                  <a:rPr lang="en-ID" dirty="0" err="1"/>
                  <a:t>sampai</a:t>
                </a:r>
                <a:r>
                  <a:rPr lang="en-ID" dirty="0"/>
                  <a:t> 3 </a:t>
                </a:r>
                <a:r>
                  <a:rPr lang="en-ID" dirty="0" err="1"/>
                  <a:t>angka</a:t>
                </a:r>
                <a:r>
                  <a:rPr lang="en-ID" dirty="0"/>
                  <a:t> </a:t>
                </a:r>
                <a:r>
                  <a:rPr lang="en-ID" dirty="0" err="1"/>
                  <a:t>desimal</a:t>
                </a:r>
                <a:r>
                  <a:rPr lang="en-ID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≈2,718</m:t>
                    </m:r>
                  </m:oMath>
                </a14:m>
                <a:endParaRPr lang="en-ID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FDA137-BD4F-42D7-81F4-3020E4708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52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10C818-620E-40E5-B201-0405F85F4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487036"/>
              </p:ext>
            </p:extLst>
          </p:nvPr>
        </p:nvGraphicFramePr>
        <p:xfrm>
          <a:off x="1164403" y="3584272"/>
          <a:ext cx="9592641" cy="11247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1669">
                  <a:extLst>
                    <a:ext uri="{9D8B030D-6E8A-4147-A177-3AD203B41FA5}">
                      <a16:colId xmlns:a16="http://schemas.microsoft.com/office/drawing/2014/main" val="735878510"/>
                    </a:ext>
                  </a:extLst>
                </a:gridCol>
                <a:gridCol w="820029">
                  <a:extLst>
                    <a:ext uri="{9D8B030D-6E8A-4147-A177-3AD203B41FA5}">
                      <a16:colId xmlns:a16="http://schemas.microsoft.com/office/drawing/2014/main" val="1083289898"/>
                    </a:ext>
                  </a:extLst>
                </a:gridCol>
                <a:gridCol w="1065849">
                  <a:extLst>
                    <a:ext uri="{9D8B030D-6E8A-4147-A177-3AD203B41FA5}">
                      <a16:colId xmlns:a16="http://schemas.microsoft.com/office/drawing/2014/main" val="2273935733"/>
                    </a:ext>
                  </a:extLst>
                </a:gridCol>
                <a:gridCol w="1065849">
                  <a:extLst>
                    <a:ext uri="{9D8B030D-6E8A-4147-A177-3AD203B41FA5}">
                      <a16:colId xmlns:a16="http://schemas.microsoft.com/office/drawing/2014/main" val="2668600315"/>
                    </a:ext>
                  </a:extLst>
                </a:gridCol>
                <a:gridCol w="1065849">
                  <a:extLst>
                    <a:ext uri="{9D8B030D-6E8A-4147-A177-3AD203B41FA5}">
                      <a16:colId xmlns:a16="http://schemas.microsoft.com/office/drawing/2014/main" val="2706287286"/>
                    </a:ext>
                  </a:extLst>
                </a:gridCol>
                <a:gridCol w="1065849">
                  <a:extLst>
                    <a:ext uri="{9D8B030D-6E8A-4147-A177-3AD203B41FA5}">
                      <a16:colId xmlns:a16="http://schemas.microsoft.com/office/drawing/2014/main" val="2750285565"/>
                    </a:ext>
                  </a:extLst>
                </a:gridCol>
                <a:gridCol w="1065849">
                  <a:extLst>
                    <a:ext uri="{9D8B030D-6E8A-4147-A177-3AD203B41FA5}">
                      <a16:colId xmlns:a16="http://schemas.microsoft.com/office/drawing/2014/main" val="2769005441"/>
                    </a:ext>
                  </a:extLst>
                </a:gridCol>
                <a:gridCol w="1065849">
                  <a:extLst>
                    <a:ext uri="{9D8B030D-6E8A-4147-A177-3AD203B41FA5}">
                      <a16:colId xmlns:a16="http://schemas.microsoft.com/office/drawing/2014/main" val="592911126"/>
                    </a:ext>
                  </a:extLst>
                </a:gridCol>
                <a:gridCol w="1065849">
                  <a:extLst>
                    <a:ext uri="{9D8B030D-6E8A-4147-A177-3AD203B41FA5}">
                      <a16:colId xmlns:a16="http://schemas.microsoft.com/office/drawing/2014/main" val="1282559953"/>
                    </a:ext>
                  </a:extLst>
                </a:gridCol>
              </a:tblGrid>
              <a:tr h="562358">
                <a:tc>
                  <a:txBody>
                    <a:bodyPr/>
                    <a:lstStyle/>
                    <a:p>
                      <a:pPr algn="l" fontAlgn="b"/>
                      <a:r>
                        <a:rPr lang="en-ID" sz="1800" u="none" strike="noStrike">
                          <a:effectLst/>
                        </a:rPr>
                        <a:t>h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 dirty="0">
                          <a:effectLst/>
                        </a:rPr>
                        <a:t>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 dirty="0">
                          <a:effectLst/>
                        </a:rPr>
                        <a:t>0,1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0,01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0,001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0,0001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0,00001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0,000001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1E-07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54695143"/>
                  </a:ext>
                </a:extLst>
              </a:tr>
              <a:tr h="562358">
                <a:tc>
                  <a:txBody>
                    <a:bodyPr/>
                    <a:lstStyle/>
                    <a:p>
                      <a:pPr algn="l" fontAlgn="b"/>
                      <a:r>
                        <a:rPr lang="en-ID" sz="1800" u="none" strike="noStrike">
                          <a:effectLst/>
                        </a:rPr>
                        <a:t>(1+h)^1/h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 dirty="0">
                          <a:effectLst/>
                        </a:rPr>
                        <a:t>2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2,593742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2,704814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2,716924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2,718146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2,718268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>
                          <a:effectLst/>
                        </a:rPr>
                        <a:t>2,71828</a:t>
                      </a:r>
                      <a:endParaRPr lang="en-ID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800" u="none" strike="noStrike" dirty="0">
                          <a:effectLst/>
                        </a:rPr>
                        <a:t>2,718282</a:t>
                      </a:r>
                      <a:endParaRPr lang="en-ID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5820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17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56D78-B01A-4CF5-B5F7-3867C70FA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Eksponen</a:t>
            </a:r>
            <a:r>
              <a:rPr lang="en-US" dirty="0"/>
              <a:t> dan </a:t>
            </a:r>
            <a:r>
              <a:rPr lang="en-US" dirty="0" err="1"/>
              <a:t>Logaritma</a:t>
            </a:r>
            <a:r>
              <a:rPr lang="en-US" dirty="0"/>
              <a:t> Asli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C9371-51CA-456C-9761-3D98622C07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8750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Fungsi </a:t>
                </a:r>
                <a:r>
                  <a:rPr lang="en-US" dirty="0" err="1"/>
                  <a:t>logaritma</a:t>
                </a:r>
                <a:r>
                  <a:rPr lang="en-US" dirty="0"/>
                  <a:t> </a:t>
                </a:r>
                <a:r>
                  <a:rPr lang="en-US" dirty="0" err="1"/>
                  <a:t>asli</a:t>
                </a:r>
                <a:r>
                  <a:rPr lang="en-US" dirty="0"/>
                  <a:t> </a:t>
                </a:r>
                <a:r>
                  <a:rPr lang="en-US" dirty="0" err="1"/>
                  <a:t>didefinisikan</a:t>
                </a:r>
                <a:r>
                  <a:rPr lang="en-US" dirty="0"/>
                  <a:t> </a:t>
                </a:r>
                <a:r>
                  <a:rPr lang="en-US" dirty="0" err="1"/>
                  <a:t>sebagai</a:t>
                </a:r>
                <a:r>
                  <a:rPr lang="en-US" dirty="0"/>
                  <a:t> </a:t>
                </a:r>
                <a:r>
                  <a:rPr lang="en-US" dirty="0" err="1"/>
                  <a:t>berikut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</m:d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ID" dirty="0"/>
              </a:p>
              <a:p>
                <a:r>
                  <a:rPr lang="en-ID" dirty="0"/>
                  <a:t>Dan </a:t>
                </a:r>
                <a:r>
                  <a:rPr lang="en-ID" dirty="0" err="1"/>
                  <a:t>fungsi</a:t>
                </a:r>
                <a:r>
                  <a:rPr lang="en-ID" dirty="0"/>
                  <a:t> </a:t>
                </a:r>
                <a:r>
                  <a:rPr lang="en-ID" dirty="0" err="1"/>
                  <a:t>logaritma</a:t>
                </a:r>
                <a:r>
                  <a:rPr lang="en-ID" dirty="0"/>
                  <a:t> </a:t>
                </a:r>
                <a:r>
                  <a:rPr lang="en-ID" dirty="0" err="1"/>
                  <a:t>asli</a:t>
                </a:r>
                <a:r>
                  <a:rPr lang="en-ID" dirty="0"/>
                  <a:t>, </a:t>
                </a:r>
                <a:r>
                  <a:rPr lang="en-ID" dirty="0" err="1"/>
                  <a:t>merupakan</a:t>
                </a:r>
                <a:r>
                  <a:rPr lang="en-ID" dirty="0"/>
                  <a:t> invers </a:t>
                </a:r>
                <a:r>
                  <a:rPr lang="en-ID" dirty="0" err="1"/>
                  <a:t>dari</a:t>
                </a:r>
                <a:r>
                  <a:rPr lang="en-ID" dirty="0"/>
                  <a:t> </a:t>
                </a:r>
                <a:r>
                  <a:rPr lang="en-ID" dirty="0" err="1"/>
                  <a:t>fungsi</a:t>
                </a:r>
                <a:r>
                  <a:rPr lang="en-ID" dirty="0"/>
                  <a:t> </a:t>
                </a:r>
                <a:r>
                  <a:rPr lang="en-ID" dirty="0" err="1"/>
                  <a:t>eksponen</a:t>
                </a:r>
                <a:r>
                  <a:rPr lang="en-ID" dirty="0"/>
                  <a:t> </a:t>
                </a:r>
                <a:r>
                  <a:rPr lang="en-ID" dirty="0" err="1"/>
                  <a:t>asli</a:t>
                </a:r>
                <a:r>
                  <a:rPr lang="en-ID" dirty="0"/>
                  <a:t>, </a:t>
                </a:r>
                <a:r>
                  <a:rPr lang="en-ID" dirty="0" err="1"/>
                  <a:t>dituliskan</a:t>
                </a:r>
                <a:r>
                  <a:rPr lang="en-ID" dirty="0"/>
                  <a:t> </a:t>
                </a:r>
                <a:r>
                  <a:rPr lang="en-ID" dirty="0" err="1"/>
                  <a:t>sbg</a:t>
                </a:r>
                <a:r>
                  <a:rPr lang="en-ID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en-ID" dirty="0" err="1"/>
                  <a:t>Maka</a:t>
                </a:r>
                <a:endParaRPr lang="en-ID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D" dirty="0"/>
              </a:p>
              <a:p>
                <a:endParaRPr lang="en-ID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C9371-51CA-456C-9761-3D98622C07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87502" cy="4351338"/>
              </a:xfrm>
              <a:blipFill>
                <a:blip r:embed="rId2"/>
                <a:stretch>
                  <a:fillRect l="-2039" t="-2241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410E023-9B8D-462F-877E-7F82C89B09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985" r="948" b="2"/>
          <a:stretch/>
        </p:blipFill>
        <p:spPr>
          <a:xfrm>
            <a:off x="6621294" y="1295416"/>
            <a:ext cx="4413151" cy="4406717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305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EBBB-9E97-4D86-872D-F84C87D4D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317AA-3617-4622-8FAE-E2C376D3B1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Pak </a:t>
                </a:r>
                <a:r>
                  <a:rPr lang="en-US" dirty="0" err="1"/>
                  <a:t>Kabayan</a:t>
                </a:r>
                <a:r>
                  <a:rPr lang="en-US" dirty="0"/>
                  <a:t> </a:t>
                </a:r>
                <a:r>
                  <a:rPr lang="en-US" dirty="0" err="1"/>
                  <a:t>mempunyai</a:t>
                </a:r>
                <a:r>
                  <a:rPr lang="en-US" dirty="0"/>
                  <a:t> </a:t>
                </a:r>
                <a:r>
                  <a:rPr lang="en-US" dirty="0" err="1"/>
                  <a:t>tabungan</a:t>
                </a:r>
                <a:r>
                  <a:rPr lang="en-US" dirty="0"/>
                  <a:t> </a:t>
                </a:r>
                <a:r>
                  <a:rPr lang="en-US" dirty="0" err="1"/>
                  <a:t>sebanyak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di </a:t>
                </a:r>
                <a:r>
                  <a:rPr lang="en-US" dirty="0" err="1"/>
                  <a:t>sebuah</a:t>
                </a:r>
                <a:r>
                  <a:rPr lang="en-US" dirty="0"/>
                  <a:t> bank yang </a:t>
                </a:r>
                <a:r>
                  <a:rPr lang="en-US" dirty="0" err="1"/>
                  <a:t>memberikan</a:t>
                </a:r>
                <a:r>
                  <a:rPr lang="en-US" dirty="0"/>
                  <a:t> </a:t>
                </a:r>
                <a:r>
                  <a:rPr lang="en-US" dirty="0" err="1"/>
                  <a:t>bunga</a:t>
                </a:r>
                <a:r>
                  <a:rPr lang="en-US" dirty="0"/>
                  <a:t> </a:t>
                </a:r>
                <a:r>
                  <a:rPr lang="en-US" dirty="0" err="1"/>
                  <a:t>sebesar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per </a:t>
                </a:r>
                <a:r>
                  <a:rPr lang="en-US" dirty="0" err="1"/>
                  <a:t>tahun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Nilai </a:t>
                </a:r>
                <a:r>
                  <a:rPr lang="en-US" dirty="0" err="1"/>
                  <a:t>tabungan</a:t>
                </a:r>
                <a:r>
                  <a:rPr lang="en-US" dirty="0"/>
                  <a:t> </a:t>
                </a:r>
                <a:r>
                  <a:rPr lang="en-US" dirty="0" err="1"/>
                  <a:t>Kabayan</a:t>
                </a:r>
                <a:r>
                  <a:rPr lang="en-US" dirty="0"/>
                  <a:t> </a:t>
                </a:r>
                <a:r>
                  <a:rPr lang="en-US" dirty="0" err="1"/>
                  <a:t>setelah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tahun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jika</a:t>
                </a:r>
                <a:r>
                  <a:rPr lang="en-US" dirty="0"/>
                  <a:t> bank </a:t>
                </a:r>
                <a:r>
                  <a:rPr lang="en-US" dirty="0" err="1"/>
                  <a:t>membayarkan</a:t>
                </a:r>
                <a:r>
                  <a:rPr lang="en-US" dirty="0"/>
                  <a:t> </a:t>
                </a:r>
                <a:r>
                  <a:rPr lang="en-US" dirty="0" err="1"/>
                  <a:t>bunga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satu</a:t>
                </a:r>
                <a:r>
                  <a:rPr lang="en-US" dirty="0"/>
                  <a:t> kali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setahun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ID" dirty="0"/>
              </a:p>
              <a:p>
                <a:r>
                  <a:rPr lang="en-ID" dirty="0" err="1"/>
                  <a:t>setiap</a:t>
                </a:r>
                <a:r>
                  <a:rPr lang="en-ID" dirty="0"/>
                  <a:t> </a:t>
                </a:r>
                <a:r>
                  <a:rPr lang="en-ID" dirty="0" err="1"/>
                  <a:t>bulan</a:t>
                </a:r>
                <a:r>
                  <a:rPr lang="en-ID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ID" dirty="0"/>
              </a:p>
              <a:p>
                <a:r>
                  <a:rPr lang="en-ID" dirty="0" err="1"/>
                  <a:t>setiap</a:t>
                </a:r>
                <a:r>
                  <a:rPr lang="en-ID" dirty="0"/>
                  <a:t> </a:t>
                </a:r>
                <a:r>
                  <a:rPr lang="en-ID" dirty="0" err="1"/>
                  <a:t>minggu</a:t>
                </a:r>
                <a:r>
                  <a:rPr lang="en-ID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 err="1"/>
                  <a:t>k</a:t>
                </a:r>
                <a:r>
                  <a:rPr lang="en-US" b="0" dirty="0" err="1"/>
                  <a:t>ontinu</a:t>
                </a:r>
                <a:r>
                  <a:rPr lang="en-US" b="0" dirty="0"/>
                  <a:t> </a:t>
                </a:r>
                <a:r>
                  <a:rPr lang="en-US" b="0" dirty="0" err="1"/>
                  <a:t>setiap</a:t>
                </a:r>
                <a:r>
                  <a:rPr lang="en-US" b="0" dirty="0"/>
                  <a:t> </a:t>
                </a:r>
                <a:r>
                  <a:rPr lang="en-US" b="0" dirty="0" err="1"/>
                  <a:t>saat</a:t>
                </a:r>
                <a:r>
                  <a:rPr lang="en-US" b="0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br>
                  <a:rPr lang="en-US" b="0" i="1" dirty="0">
                    <a:latin typeface="Cambria Math" panose="02040503050406030204" pitchFamily="18" charset="0"/>
                  </a:rPr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</m:oMath>
                </a14:m>
                <a:endParaRPr lang="en-ID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D317AA-3617-4622-8FAE-E2C376D3B1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3155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229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C354-CDF3-4CE9-9657-FFECAC3F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B0665-F176-4921-B634-617E5CA0DC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Pak </a:t>
                </a:r>
                <a:r>
                  <a:rPr lang="en-US" dirty="0" err="1"/>
                  <a:t>Kabayan</a:t>
                </a:r>
                <a:r>
                  <a:rPr lang="en-US" dirty="0"/>
                  <a:t> </a:t>
                </a:r>
                <a:r>
                  <a:rPr lang="en-US" dirty="0" err="1"/>
                  <a:t>mempunyai</a:t>
                </a:r>
                <a:r>
                  <a:rPr lang="en-US" dirty="0"/>
                  <a:t> </a:t>
                </a:r>
                <a:r>
                  <a:rPr lang="en-US" dirty="0" err="1"/>
                  <a:t>tabungan</a:t>
                </a:r>
                <a:r>
                  <a:rPr lang="en-US" dirty="0"/>
                  <a:t> </a:t>
                </a:r>
                <a:r>
                  <a:rPr lang="en-US" dirty="0" err="1"/>
                  <a:t>sebanyak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100 </m:t>
                    </m:r>
                  </m:oMath>
                </a14:m>
                <a:r>
                  <a:rPr lang="en-US" dirty="0"/>
                  <a:t>juta di </a:t>
                </a:r>
                <a:r>
                  <a:rPr lang="en-US" dirty="0" err="1"/>
                  <a:t>sebuah</a:t>
                </a:r>
                <a:r>
                  <a:rPr lang="en-US" dirty="0"/>
                  <a:t> bank yang </a:t>
                </a:r>
                <a:r>
                  <a:rPr lang="en-US" dirty="0" err="1"/>
                  <a:t>memberikan</a:t>
                </a:r>
                <a:r>
                  <a:rPr lang="en-US" dirty="0"/>
                  <a:t> </a:t>
                </a:r>
                <a:r>
                  <a:rPr lang="en-US" dirty="0" err="1"/>
                  <a:t>bunga</a:t>
                </a:r>
                <a:r>
                  <a:rPr lang="en-US" dirty="0"/>
                  <a:t> </a:t>
                </a:r>
                <a:r>
                  <a:rPr lang="en-US" dirty="0" err="1"/>
                  <a:t>sebesar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6%</m:t>
                    </m:r>
                  </m:oMath>
                </a14:m>
                <a:r>
                  <a:rPr lang="en-US" dirty="0"/>
                  <a:t> per </a:t>
                </a:r>
                <a:r>
                  <a:rPr lang="en-US" dirty="0" err="1"/>
                  <a:t>tahun</a:t>
                </a:r>
                <a:r>
                  <a:rPr lang="en-US" dirty="0"/>
                  <a:t> dan </a:t>
                </a:r>
                <a:r>
                  <a:rPr lang="en-US" dirty="0" err="1"/>
                  <a:t>dibayar</a:t>
                </a:r>
                <a:r>
                  <a:rPr lang="en-US" dirty="0"/>
                  <a:t> </a:t>
                </a:r>
                <a:r>
                  <a:rPr lang="en-US" dirty="0" err="1"/>
                  <a:t>secara</a:t>
                </a:r>
                <a:r>
                  <a:rPr lang="en-US" dirty="0"/>
                  <a:t> </a:t>
                </a:r>
                <a:r>
                  <a:rPr lang="en-US" dirty="0" err="1"/>
                  <a:t>kontinu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Maka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</a:t>
                </a:r>
                <a:r>
                  <a:rPr lang="en-US" dirty="0" err="1"/>
                  <a:t>tabungan</a:t>
                </a:r>
                <a:r>
                  <a:rPr lang="en-US" dirty="0"/>
                  <a:t> </a:t>
                </a:r>
                <a:r>
                  <a:rPr lang="en-US" dirty="0" err="1"/>
                  <a:t>Kabayan</a:t>
                </a:r>
                <a:r>
                  <a:rPr lang="en-US" dirty="0"/>
                  <a:t> </a:t>
                </a:r>
                <a:r>
                  <a:rPr lang="en-US" dirty="0" err="1"/>
                  <a:t>setelah</a:t>
                </a:r>
                <a:r>
                  <a:rPr lang="en-US" dirty="0"/>
                  <a:t> 10 </a:t>
                </a:r>
                <a:r>
                  <a:rPr lang="en-US" dirty="0" err="1"/>
                  <a:t>tahun</a:t>
                </a:r>
                <a:r>
                  <a:rPr lang="en-US" dirty="0"/>
                  <a:t> </a:t>
                </a:r>
                <a:r>
                  <a:rPr lang="en-US" dirty="0" err="1"/>
                  <a:t>adalah</a:t>
                </a:r>
                <a:r>
                  <a:rPr lang="en-US" dirty="0"/>
                  <a:t>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 </m:t>
                    </m:r>
                  </m:oMath>
                </a14:m>
                <a:r>
                  <a:rPr lang="en-ID" dirty="0" err="1"/>
                  <a:t>juta</a:t>
                </a:r>
                <a:r>
                  <a:rPr lang="en-ID" dirty="0"/>
                  <a:t> =182.212 </a:t>
                </a:r>
                <a:r>
                  <a:rPr lang="en-ID" dirty="0" err="1"/>
                  <a:t>juta</a:t>
                </a:r>
                <a:endParaRPr lang="en-ID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B0665-F176-4921-B634-617E5CA0DC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4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042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C354-CDF3-4CE9-9657-FFECAC3F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B0665-F176-4921-B634-617E5CA0DC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Pak </a:t>
                </a:r>
                <a:r>
                  <a:rPr lang="en-US" dirty="0" err="1"/>
                  <a:t>Kabayan</a:t>
                </a:r>
                <a:r>
                  <a:rPr lang="en-US" dirty="0"/>
                  <a:t> </a:t>
                </a:r>
                <a:r>
                  <a:rPr lang="en-US" dirty="0" err="1"/>
                  <a:t>mempunyai</a:t>
                </a:r>
                <a:r>
                  <a:rPr lang="en-US" dirty="0"/>
                  <a:t> </a:t>
                </a:r>
                <a:r>
                  <a:rPr lang="en-US" dirty="0" err="1"/>
                  <a:t>tabungan</a:t>
                </a:r>
                <a:r>
                  <a:rPr lang="en-US" dirty="0"/>
                  <a:t> </a:t>
                </a:r>
                <a:r>
                  <a:rPr lang="en-US" dirty="0" err="1"/>
                  <a:t>sebanyak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di </a:t>
                </a:r>
                <a:r>
                  <a:rPr lang="en-US" dirty="0" err="1"/>
                  <a:t>sebuah</a:t>
                </a:r>
                <a:r>
                  <a:rPr lang="en-US" dirty="0"/>
                  <a:t> bank yang </a:t>
                </a:r>
                <a:r>
                  <a:rPr lang="en-US" dirty="0" err="1"/>
                  <a:t>memberikan</a:t>
                </a:r>
                <a:r>
                  <a:rPr lang="en-US" dirty="0"/>
                  <a:t> </a:t>
                </a:r>
                <a:r>
                  <a:rPr lang="en-US" dirty="0" err="1"/>
                  <a:t>bunga</a:t>
                </a:r>
                <a:r>
                  <a:rPr lang="en-US" dirty="0"/>
                  <a:t> </a:t>
                </a:r>
                <a:r>
                  <a:rPr lang="en-US" dirty="0" err="1"/>
                  <a:t>sebesar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6%</m:t>
                    </m:r>
                  </m:oMath>
                </a14:m>
                <a:r>
                  <a:rPr lang="en-US" dirty="0"/>
                  <a:t> per </a:t>
                </a:r>
                <a:r>
                  <a:rPr lang="en-US" dirty="0" err="1"/>
                  <a:t>tahun</a:t>
                </a:r>
                <a:r>
                  <a:rPr lang="en-US" dirty="0"/>
                  <a:t> dan </a:t>
                </a:r>
                <a:r>
                  <a:rPr lang="en-US" dirty="0" err="1"/>
                  <a:t>dibayar</a:t>
                </a:r>
                <a:r>
                  <a:rPr lang="en-US" dirty="0"/>
                  <a:t> </a:t>
                </a:r>
                <a:r>
                  <a:rPr lang="en-US" dirty="0" err="1"/>
                  <a:t>secara</a:t>
                </a:r>
                <a:r>
                  <a:rPr lang="en-US" dirty="0"/>
                  <a:t> </a:t>
                </a:r>
                <a:r>
                  <a:rPr lang="en-US" dirty="0" err="1"/>
                  <a:t>kontinu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Setelah </a:t>
                </a:r>
                <a:r>
                  <a:rPr lang="en-US" dirty="0" err="1"/>
                  <a:t>berapa</a:t>
                </a:r>
                <a:r>
                  <a:rPr lang="en-US" dirty="0"/>
                  <a:t> </a:t>
                </a:r>
                <a:r>
                  <a:rPr lang="en-US" dirty="0" err="1"/>
                  <a:t>tahun</a:t>
                </a:r>
                <a:r>
                  <a:rPr lang="en-US" dirty="0"/>
                  <a:t> </a:t>
                </a:r>
                <a:r>
                  <a:rPr lang="en-US" dirty="0" err="1"/>
                  <a:t>nilainya</a:t>
                </a:r>
                <a:r>
                  <a:rPr lang="en-US" dirty="0"/>
                  <a:t>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menjadi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kali </a:t>
                </a:r>
                <a:r>
                  <a:rPr lang="en-US" dirty="0" err="1"/>
                  <a:t>lipat</a:t>
                </a:r>
                <a:r>
                  <a:rPr lang="en-US" dirty="0"/>
                  <a:t>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D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ID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0.06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0.06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=11.5525</m:t>
                    </m:r>
                  </m:oMath>
                </a14:m>
                <a:r>
                  <a:rPr lang="en-ID" dirty="0"/>
                  <a:t> tahun.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2B0665-F176-4921-B634-617E5CA0DC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62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2287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777F-6D5D-45CA-8096-7A9C1D074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:</a:t>
            </a:r>
            <a:endParaRPr lang="en-ID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591875-1653-41EC-A6C8-5619D660FD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Hitunglah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</m:oMath>
                </a14:m>
                <a:endParaRPr lang="en-US" b="0" dirty="0"/>
              </a:p>
              <a:p>
                <a:r>
                  <a:rPr lang="en-ID" dirty="0" err="1"/>
                  <a:t>Perhatikan</a:t>
                </a:r>
                <a:r>
                  <a:rPr lang="en-ID" dirty="0"/>
                  <a:t> </a:t>
                </a:r>
                <a:r>
                  <a:rPr lang="en-ID" dirty="0" err="1"/>
                  <a:t>bahwa</a:t>
                </a:r>
                <a:r>
                  <a:rPr lang="en-ID" dirty="0"/>
                  <a:t>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den>
                            </m:f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</m:e>
                    </m:func>
                  </m:oMath>
                </a14:m>
                <a:endParaRPr lang="en-ID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591875-1653-41EC-A6C8-5619D660FD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754104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AnalogousFromLightSeed_2SEEDS">
      <a:dk1>
        <a:srgbClr val="000000"/>
      </a:dk1>
      <a:lt1>
        <a:srgbClr val="FFFFFF"/>
      </a:lt1>
      <a:dk2>
        <a:srgbClr val="3C2E22"/>
      </a:dk2>
      <a:lt2>
        <a:srgbClr val="E2E3E8"/>
      </a:lt2>
      <a:accent1>
        <a:srgbClr val="ACA176"/>
      </a:accent1>
      <a:accent2>
        <a:srgbClr val="BD9A85"/>
      </a:accent2>
      <a:accent3>
        <a:srgbClr val="9CA57D"/>
      </a:accent3>
      <a:accent4>
        <a:srgbClr val="7BA9B5"/>
      </a:accent4>
      <a:accent5>
        <a:srgbClr val="8EA2C2"/>
      </a:accent5>
      <a:accent6>
        <a:srgbClr val="817FBA"/>
      </a:accent6>
      <a:hlink>
        <a:srgbClr val="6978AE"/>
      </a:hlink>
      <a:folHlink>
        <a:srgbClr val="7F7F7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7A3B2BD7D686488A9B6009AB8FC602" ma:contentTypeVersion="3" ma:contentTypeDescription="Create a new document." ma:contentTypeScope="" ma:versionID="15fd8ed0fcc513c1c5d5564e466e6338">
  <xsd:schema xmlns:xsd="http://www.w3.org/2001/XMLSchema" xmlns:xs="http://www.w3.org/2001/XMLSchema" xmlns:p="http://schemas.microsoft.com/office/2006/metadata/properties" xmlns:ns2="0b2182c7-3c0f-4302-969c-14405100b056" targetNamespace="http://schemas.microsoft.com/office/2006/metadata/properties" ma:root="true" ma:fieldsID="d137895c48e3a9eea7600dc3c7afee27" ns2:_="">
    <xsd:import namespace="0b2182c7-3c0f-4302-969c-14405100b0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2182c7-3c0f-4302-969c-14405100b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AB887FE-32A7-42A8-9D18-BB1148C243E8}"/>
</file>

<file path=customXml/itemProps2.xml><?xml version="1.0" encoding="utf-8"?>
<ds:datastoreItem xmlns:ds="http://schemas.openxmlformats.org/officeDocument/2006/customXml" ds:itemID="{D31619DF-556F-44C6-8423-ED786F513E75}"/>
</file>

<file path=customXml/itemProps3.xml><?xml version="1.0" encoding="utf-8"?>
<ds:datastoreItem xmlns:ds="http://schemas.openxmlformats.org/officeDocument/2006/customXml" ds:itemID="{55EE6239-FD32-4AC1-88D4-39CDB21976A0}"/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328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Avenir Next LT Pro</vt:lpstr>
      <vt:lpstr>Calibri</vt:lpstr>
      <vt:lpstr>Cambria Math</vt:lpstr>
      <vt:lpstr>Tw Cen MT</vt:lpstr>
      <vt:lpstr>ShapesVTI</vt:lpstr>
      <vt:lpstr>Fungsi Eksponen dan Logaritma Asli</vt:lpstr>
      <vt:lpstr>Nilai e</vt:lpstr>
      <vt:lpstr>Perhitungan nilai e</vt:lpstr>
      <vt:lpstr>Fungsi Eksponen dan Logaritma Asli</vt:lpstr>
      <vt:lpstr>Contoh:</vt:lpstr>
      <vt:lpstr>Contoh</vt:lpstr>
      <vt:lpstr>Contoh</vt:lpstr>
      <vt:lpstr>Contoh: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Fungsi Eksponen dan Logaritma Asli</dc:title>
  <dc:creator> </dc:creator>
  <cp:lastModifiedBy> </cp:lastModifiedBy>
  <cp:revision>9</cp:revision>
  <dcterms:created xsi:type="dcterms:W3CDTF">2020-10-11T14:08:54Z</dcterms:created>
  <dcterms:modified xsi:type="dcterms:W3CDTF">2020-10-11T14:56:20Z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0x010100AA7A3B2BD7D686488A9B6009AB8FC602</vt:lpwstr>
  </property>
</Properties>
</file>