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57" r:id="rId1"/>
  </p:sldMasterIdLst>
  <p:notesMasterIdLst>
    <p:notesMasterId r:id="rId15"/>
  </p:notesMasterIdLst>
  <p:sldIdLst>
    <p:sldId id="367" r:id="rId2"/>
    <p:sldId id="368" r:id="rId3"/>
    <p:sldId id="369" r:id="rId4"/>
    <p:sldId id="370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</p:sldIdLst>
  <p:sldSz cx="12192000" cy="6858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C1F72E-4AF8-4432-BF39-1D7B033C857F}">
  <a:tblStyle styleId="{8CC1F72E-4AF8-4432-BF39-1D7B033C857F}" styleName="Table_0"/>
  <a:tblStyle styleId="{69AE40EB-9DC2-447F-9560-EBB07DCEE94B}" styleName="Table_1"/>
  <a:tblStyle styleId="{10B66BF1-D510-432A-A824-B228871B3D69}" styleName="Table_2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>
        <p:scale>
          <a:sx n="70" d="100"/>
          <a:sy n="70" d="100"/>
        </p:scale>
        <p:origin x="-71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spcBef>
                <a:spcPts val="0"/>
              </a:spcBef>
              <a:defRPr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084062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2 Column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499768" y="2009550"/>
            <a:ext cx="5380565" cy="40023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6066" indent="-140331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Verdana"/>
              <a:buChar char="•"/>
              <a:defRPr/>
            </a:lvl1pPr>
            <a:lvl2pPr marL="593710" indent="-60324" algn="l" rtl="0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2pPr>
            <a:lvl3pPr marL="822305" indent="-73024" algn="l" rtl="0">
              <a:spcBef>
                <a:spcPts val="7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▪"/>
              <a:defRPr/>
            </a:lvl3pPr>
            <a:lvl4pPr marL="1050899" indent="-85723" algn="l" rtl="0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4pPr>
            <a:lvl5pPr marL="1233457" indent="-90484" algn="l" rtl="0"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Font typeface="Verdana"/>
              <a:buChar char="▪"/>
              <a:defRPr/>
            </a:lvl5pPr>
            <a:lvl6pPr marL="2514537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6pPr>
            <a:lvl7pPr marL="2971726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7pPr>
            <a:lvl8pPr marL="3428914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8pPr>
            <a:lvl9pPr marL="3886103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6318484" y="2009550"/>
            <a:ext cx="5380565" cy="40023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6066" indent="-140331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Verdana"/>
              <a:buChar char="•"/>
              <a:defRPr/>
            </a:lvl1pPr>
            <a:lvl2pPr marL="593710" indent="-60324" algn="l" rtl="0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2pPr>
            <a:lvl3pPr marL="822305" indent="-73024" algn="l" rtl="0">
              <a:spcBef>
                <a:spcPts val="7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▪"/>
              <a:defRPr/>
            </a:lvl3pPr>
            <a:lvl4pPr marL="1050899" indent="-85723" algn="l" rtl="0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4pPr>
            <a:lvl5pPr marL="1233457" indent="-90484" algn="l" rtl="0"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Font typeface="Verdana"/>
              <a:buChar char="▪"/>
              <a:defRPr/>
            </a:lvl5pPr>
            <a:lvl6pPr marL="2514537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6pPr>
            <a:lvl7pPr marL="2971726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7pPr>
            <a:lvl8pPr marL="3428914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8pPr>
            <a:lvl9pPr marL="3886103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519883" y="6451894"/>
            <a:ext cx="478367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457189" marR="0" indent="0" algn="l" rtl="0">
              <a:spcBef>
                <a:spcPts val="0"/>
              </a:spcBef>
              <a:defRPr/>
            </a:lvl2pPr>
            <a:lvl3pPr marL="914377" marR="0" indent="0" algn="l" rtl="0">
              <a:spcBef>
                <a:spcPts val="0"/>
              </a:spcBef>
              <a:defRPr/>
            </a:lvl3pPr>
            <a:lvl4pPr marL="1371566" marR="0" indent="0" algn="l" rtl="0">
              <a:spcBef>
                <a:spcPts val="0"/>
              </a:spcBef>
              <a:defRPr/>
            </a:lvl4pPr>
            <a:lvl5pPr marL="1828754" marR="0" indent="0" algn="l" rtl="0">
              <a:spcBef>
                <a:spcPts val="0"/>
              </a:spcBef>
              <a:defRPr/>
            </a:lvl5pPr>
            <a:lvl6pPr marL="2285943" marR="0" indent="0" algn="l" rtl="0">
              <a:spcBef>
                <a:spcPts val="0"/>
              </a:spcBef>
              <a:defRPr/>
            </a:lvl6pPr>
            <a:lvl7pPr marL="2743131" marR="0" indent="0" algn="l" rtl="0">
              <a:spcBef>
                <a:spcPts val="0"/>
              </a:spcBef>
              <a:defRPr/>
            </a:lvl7pPr>
            <a:lvl8pPr marL="3200320" marR="0" indent="0" algn="l" rtl="0">
              <a:spcBef>
                <a:spcPts val="0"/>
              </a:spcBef>
              <a:defRPr/>
            </a:lvl8pPr>
            <a:lvl9pPr marL="3657509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dt" idx="10"/>
          </p:nvPr>
        </p:nvSpPr>
        <p:spPr>
          <a:xfrm>
            <a:off x="1080796" y="6451894"/>
            <a:ext cx="219074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457189" marR="0" indent="0" algn="l" rtl="0">
              <a:spcBef>
                <a:spcPts val="0"/>
              </a:spcBef>
              <a:defRPr/>
            </a:lvl2pPr>
            <a:lvl3pPr marL="914377" marR="0" indent="0" algn="l" rtl="0">
              <a:spcBef>
                <a:spcPts val="0"/>
              </a:spcBef>
              <a:defRPr/>
            </a:lvl3pPr>
            <a:lvl4pPr marL="1371566" marR="0" indent="0" algn="l" rtl="0">
              <a:spcBef>
                <a:spcPts val="0"/>
              </a:spcBef>
              <a:defRPr/>
            </a:lvl4pPr>
            <a:lvl5pPr marL="1828754" marR="0" indent="0" algn="l" rtl="0">
              <a:spcBef>
                <a:spcPts val="0"/>
              </a:spcBef>
              <a:defRPr/>
            </a:lvl5pPr>
            <a:lvl6pPr marL="2285943" marR="0" indent="0" algn="l" rtl="0">
              <a:spcBef>
                <a:spcPts val="0"/>
              </a:spcBef>
              <a:defRPr/>
            </a:lvl6pPr>
            <a:lvl7pPr marL="2743131" marR="0" indent="0" algn="l" rtl="0">
              <a:spcBef>
                <a:spcPts val="0"/>
              </a:spcBef>
              <a:defRPr/>
            </a:lvl7pPr>
            <a:lvl8pPr marL="3200320" marR="0" indent="0" algn="l" rtl="0">
              <a:spcBef>
                <a:spcPts val="0"/>
              </a:spcBef>
              <a:defRPr/>
            </a:lvl8pPr>
            <a:lvl9pPr marL="3657509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0" y="1184829"/>
            <a:ext cx="12192000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baseline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86831" y="1336425"/>
            <a:ext cx="11212216" cy="6412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l" rtl="0">
              <a:spcBef>
                <a:spcPts val="0"/>
              </a:spcBef>
              <a:spcAft>
                <a:spcPts val="0"/>
              </a:spcAft>
              <a:defRPr/>
            </a:lvl1pPr>
            <a:lvl2pPr algn="l" rtl="0">
              <a:spcBef>
                <a:spcPts val="0"/>
              </a:spcBef>
              <a:spcAft>
                <a:spcPts val="0"/>
              </a:spcAft>
              <a:defRPr/>
            </a:lvl2pPr>
            <a:lvl3pPr algn="l" rtl="0">
              <a:spcBef>
                <a:spcPts val="0"/>
              </a:spcBef>
              <a:spcAft>
                <a:spcPts val="0"/>
              </a:spcAft>
              <a:defRPr/>
            </a:lvl3pPr>
            <a:lvl4pPr algn="l" rtl="0">
              <a:spcBef>
                <a:spcPts val="0"/>
              </a:spcBef>
              <a:spcAft>
                <a:spcPts val="0"/>
              </a:spcAft>
              <a:defRPr/>
            </a:lvl4pPr>
            <a:lvl5pPr algn="l" rtl="0">
              <a:spcBef>
                <a:spcPts val="0"/>
              </a:spcBef>
              <a:spcAft>
                <a:spcPts val="0"/>
              </a:spcAft>
              <a:defRPr/>
            </a:lvl5pPr>
            <a:lvl6pPr marL="457189" algn="l" rtl="0">
              <a:spcBef>
                <a:spcPts val="0"/>
              </a:spcBef>
              <a:spcAft>
                <a:spcPts val="0"/>
              </a:spcAft>
              <a:defRPr/>
            </a:lvl6pPr>
            <a:lvl7pPr marL="914377" algn="l" rtl="0">
              <a:spcBef>
                <a:spcPts val="0"/>
              </a:spcBef>
              <a:spcAft>
                <a:spcPts val="0"/>
              </a:spcAft>
              <a:defRPr/>
            </a:lvl7pPr>
            <a:lvl8pPr marL="1371566" algn="l" rtl="0">
              <a:spcBef>
                <a:spcPts val="0"/>
              </a:spcBef>
              <a:spcAft>
                <a:spcPts val="0"/>
              </a:spcAft>
              <a:defRPr/>
            </a:lvl8pPr>
            <a:lvl9pPr marL="1828754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3"/>
          </p:nvPr>
        </p:nvSpPr>
        <p:spPr>
          <a:xfrm>
            <a:off x="7224219" y="6451609"/>
            <a:ext cx="4421036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algn="r" rtl="0">
              <a:spcBef>
                <a:spcPts val="0"/>
              </a:spcBef>
              <a:buClr>
                <a:schemeClr val="lt1"/>
              </a:buClr>
              <a:buFont typeface="Verdana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 Slid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489184" y="1645919"/>
            <a:ext cx="5380328" cy="789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algn="ctr" rtl="0">
              <a:lnSpc>
                <a:spcPct val="115384"/>
              </a:lnSpc>
              <a:spcBef>
                <a:spcPts val="0"/>
              </a:spcBef>
              <a:buFont typeface="Verdana"/>
              <a:buNone/>
              <a:defRPr/>
            </a:lvl1pPr>
            <a:lvl2pPr marL="457189" indent="0" rtl="0">
              <a:spcBef>
                <a:spcPts val="0"/>
              </a:spcBef>
              <a:buFont typeface="Verdana"/>
              <a:buNone/>
              <a:defRPr/>
            </a:lvl2pPr>
            <a:lvl3pPr marL="914377" indent="0" rtl="0">
              <a:spcBef>
                <a:spcPts val="0"/>
              </a:spcBef>
              <a:buFont typeface="Verdana"/>
              <a:buNone/>
              <a:defRPr/>
            </a:lvl3pPr>
            <a:lvl4pPr marL="1371566" indent="0" rtl="0">
              <a:spcBef>
                <a:spcPts val="0"/>
              </a:spcBef>
              <a:buFont typeface="Verdana"/>
              <a:buNone/>
              <a:defRPr/>
            </a:lvl4pPr>
            <a:lvl5pPr marL="1828754" indent="0" rtl="0">
              <a:spcBef>
                <a:spcPts val="0"/>
              </a:spcBef>
              <a:buFont typeface="Verdana"/>
              <a:buNone/>
              <a:defRPr/>
            </a:lvl5pPr>
            <a:lvl6pPr marL="2285943" indent="0" rtl="0">
              <a:spcBef>
                <a:spcPts val="0"/>
              </a:spcBef>
              <a:buFont typeface="Verdana"/>
              <a:buNone/>
              <a:defRPr/>
            </a:lvl6pPr>
            <a:lvl7pPr marL="2743131" indent="0" rtl="0">
              <a:spcBef>
                <a:spcPts val="0"/>
              </a:spcBef>
              <a:buFont typeface="Verdana"/>
              <a:buNone/>
              <a:defRPr/>
            </a:lvl7pPr>
            <a:lvl8pPr marL="3200320" indent="0" rtl="0">
              <a:spcBef>
                <a:spcPts val="0"/>
              </a:spcBef>
              <a:buFont typeface="Verdana"/>
              <a:buNone/>
              <a:defRPr/>
            </a:lvl8pPr>
            <a:lvl9pPr marL="3657509" indent="0" rtl="0">
              <a:spcBef>
                <a:spcPts val="0"/>
              </a:spcBef>
              <a:buFont typeface="Verdana"/>
              <a:buNone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2"/>
          </p:nvPr>
        </p:nvSpPr>
        <p:spPr>
          <a:xfrm>
            <a:off x="6271683" y="1645919"/>
            <a:ext cx="5393500" cy="789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algn="ctr" rtl="0">
              <a:lnSpc>
                <a:spcPct val="115384"/>
              </a:lnSpc>
              <a:spcBef>
                <a:spcPts val="0"/>
              </a:spcBef>
              <a:buFont typeface="Verdana"/>
              <a:buNone/>
              <a:defRPr/>
            </a:lvl1pPr>
            <a:lvl2pPr marL="457189" indent="0" rtl="0">
              <a:spcBef>
                <a:spcPts val="0"/>
              </a:spcBef>
              <a:buFont typeface="Verdana"/>
              <a:buNone/>
              <a:defRPr/>
            </a:lvl2pPr>
            <a:lvl3pPr marL="914377" indent="0" rtl="0">
              <a:spcBef>
                <a:spcPts val="0"/>
              </a:spcBef>
              <a:buFont typeface="Verdana"/>
              <a:buNone/>
              <a:defRPr/>
            </a:lvl3pPr>
            <a:lvl4pPr marL="1371566" indent="0" rtl="0">
              <a:spcBef>
                <a:spcPts val="0"/>
              </a:spcBef>
              <a:buFont typeface="Verdana"/>
              <a:buNone/>
              <a:defRPr/>
            </a:lvl4pPr>
            <a:lvl5pPr marL="1828754" indent="0" rtl="0">
              <a:spcBef>
                <a:spcPts val="0"/>
              </a:spcBef>
              <a:buFont typeface="Verdana"/>
              <a:buNone/>
              <a:defRPr/>
            </a:lvl5pPr>
            <a:lvl6pPr marL="2285943" indent="0" rtl="0">
              <a:spcBef>
                <a:spcPts val="0"/>
              </a:spcBef>
              <a:buFont typeface="Verdana"/>
              <a:buNone/>
              <a:defRPr/>
            </a:lvl6pPr>
            <a:lvl7pPr marL="2743131" indent="0" rtl="0">
              <a:spcBef>
                <a:spcPts val="0"/>
              </a:spcBef>
              <a:buFont typeface="Verdana"/>
              <a:buNone/>
              <a:defRPr/>
            </a:lvl7pPr>
            <a:lvl8pPr marL="3200320" indent="0" rtl="0">
              <a:spcBef>
                <a:spcPts val="0"/>
              </a:spcBef>
              <a:buFont typeface="Verdana"/>
              <a:buNone/>
              <a:defRPr/>
            </a:lvl8pPr>
            <a:lvl9pPr marL="3657509" indent="0" rtl="0">
              <a:spcBef>
                <a:spcPts val="0"/>
              </a:spcBef>
              <a:buFont typeface="Verdana"/>
              <a:buNone/>
              <a:defRPr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3"/>
          </p:nvPr>
        </p:nvSpPr>
        <p:spPr>
          <a:xfrm>
            <a:off x="476249" y="2659072"/>
            <a:ext cx="5393267" cy="3352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6066" indent="-140331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Verdana"/>
              <a:buChar char="•"/>
              <a:defRPr/>
            </a:lvl1pPr>
            <a:lvl2pPr marL="593710" indent="-60324" algn="l" rtl="0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2pPr>
            <a:lvl3pPr marL="822305" indent="-73024" algn="l" rtl="0">
              <a:spcBef>
                <a:spcPts val="7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▪"/>
              <a:defRPr/>
            </a:lvl3pPr>
            <a:lvl4pPr marL="1050899" indent="-85723" algn="l" rtl="0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4pPr>
            <a:lvl5pPr marL="1233457" indent="-90484" algn="l" rtl="0"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Font typeface="Verdana"/>
              <a:buChar char="▪"/>
              <a:defRPr/>
            </a:lvl5pPr>
            <a:lvl6pPr marL="2514537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6pPr>
            <a:lvl7pPr marL="2971726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7pPr>
            <a:lvl8pPr marL="3428914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8pPr>
            <a:lvl9pPr marL="3886103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4"/>
          </p:nvPr>
        </p:nvSpPr>
        <p:spPr>
          <a:xfrm>
            <a:off x="6271685" y="2659072"/>
            <a:ext cx="5393267" cy="3352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6066" indent="-140331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Verdana"/>
              <a:buChar char="•"/>
              <a:defRPr/>
            </a:lvl1pPr>
            <a:lvl2pPr marL="593710" indent="-60324" algn="l" rtl="0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2pPr>
            <a:lvl3pPr marL="822305" indent="-73024" algn="l" rtl="0">
              <a:spcBef>
                <a:spcPts val="7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▪"/>
              <a:defRPr/>
            </a:lvl3pPr>
            <a:lvl4pPr marL="1050899" indent="-85723" algn="l" rtl="0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4pPr>
            <a:lvl5pPr marL="1233457" indent="-90484" algn="l" rtl="0"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Font typeface="Verdana"/>
              <a:buChar char="▪"/>
              <a:defRPr/>
            </a:lvl5pPr>
            <a:lvl6pPr marL="2514537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6pPr>
            <a:lvl7pPr marL="2971726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7pPr>
            <a:lvl8pPr marL="3428914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8pPr>
            <a:lvl9pPr marL="3886103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519883" y="6451894"/>
            <a:ext cx="478367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457189" marR="0" indent="0" algn="l" rtl="0">
              <a:spcBef>
                <a:spcPts val="0"/>
              </a:spcBef>
              <a:defRPr/>
            </a:lvl2pPr>
            <a:lvl3pPr marL="914377" marR="0" indent="0" algn="l" rtl="0">
              <a:spcBef>
                <a:spcPts val="0"/>
              </a:spcBef>
              <a:defRPr/>
            </a:lvl3pPr>
            <a:lvl4pPr marL="1371566" marR="0" indent="0" algn="l" rtl="0">
              <a:spcBef>
                <a:spcPts val="0"/>
              </a:spcBef>
              <a:defRPr/>
            </a:lvl4pPr>
            <a:lvl5pPr marL="1828754" marR="0" indent="0" algn="l" rtl="0">
              <a:spcBef>
                <a:spcPts val="0"/>
              </a:spcBef>
              <a:defRPr/>
            </a:lvl5pPr>
            <a:lvl6pPr marL="2285943" marR="0" indent="0" algn="l" rtl="0">
              <a:spcBef>
                <a:spcPts val="0"/>
              </a:spcBef>
              <a:defRPr/>
            </a:lvl6pPr>
            <a:lvl7pPr marL="2743131" marR="0" indent="0" algn="l" rtl="0">
              <a:spcBef>
                <a:spcPts val="0"/>
              </a:spcBef>
              <a:defRPr/>
            </a:lvl7pPr>
            <a:lvl8pPr marL="3200320" marR="0" indent="0" algn="l" rtl="0">
              <a:spcBef>
                <a:spcPts val="0"/>
              </a:spcBef>
              <a:defRPr/>
            </a:lvl8pPr>
            <a:lvl9pPr marL="3657509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1080796" y="6451894"/>
            <a:ext cx="219074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457189" marR="0" indent="0" algn="l" rtl="0">
              <a:spcBef>
                <a:spcPts val="0"/>
              </a:spcBef>
              <a:defRPr/>
            </a:lvl2pPr>
            <a:lvl3pPr marL="914377" marR="0" indent="0" algn="l" rtl="0">
              <a:spcBef>
                <a:spcPts val="0"/>
              </a:spcBef>
              <a:defRPr/>
            </a:lvl3pPr>
            <a:lvl4pPr marL="1371566" marR="0" indent="0" algn="l" rtl="0">
              <a:spcBef>
                <a:spcPts val="0"/>
              </a:spcBef>
              <a:defRPr/>
            </a:lvl4pPr>
            <a:lvl5pPr marL="1828754" marR="0" indent="0" algn="l" rtl="0">
              <a:spcBef>
                <a:spcPts val="0"/>
              </a:spcBef>
              <a:defRPr/>
            </a:lvl5pPr>
            <a:lvl6pPr marL="2285943" marR="0" indent="0" algn="l" rtl="0">
              <a:spcBef>
                <a:spcPts val="0"/>
              </a:spcBef>
              <a:defRPr/>
            </a:lvl6pPr>
            <a:lvl7pPr marL="2743131" marR="0" indent="0" algn="l" rtl="0">
              <a:spcBef>
                <a:spcPts val="0"/>
              </a:spcBef>
              <a:defRPr/>
            </a:lvl7pPr>
            <a:lvl8pPr marL="3200320" marR="0" indent="0" algn="l" rtl="0">
              <a:spcBef>
                <a:spcPts val="0"/>
              </a:spcBef>
              <a:defRPr/>
            </a:lvl8pPr>
            <a:lvl9pPr marL="3657509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0" y="1184829"/>
            <a:ext cx="12192000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baseline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Shape 55"/>
          <p:cNvSpPr txBox="1">
            <a:spLocks noGrp="1"/>
          </p:cNvSpPr>
          <p:nvPr>
            <p:ph type="body" idx="5"/>
          </p:nvPr>
        </p:nvSpPr>
        <p:spPr>
          <a:xfrm>
            <a:off x="7224219" y="6451609"/>
            <a:ext cx="4421036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algn="r" rtl="0">
              <a:spcBef>
                <a:spcPts val="0"/>
              </a:spcBef>
              <a:buClr>
                <a:schemeClr val="lt1"/>
              </a:buClr>
              <a:buFont typeface="Verdana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, 1 Content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238052" y="2009550"/>
            <a:ext cx="5380565" cy="40023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6066" indent="-140331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Verdana"/>
              <a:buChar char="•"/>
              <a:defRPr/>
            </a:lvl1pPr>
            <a:lvl2pPr marL="593710" indent="-60324" algn="l" rtl="0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2pPr>
            <a:lvl3pPr marL="822305" indent="-73024" algn="l" rtl="0">
              <a:spcBef>
                <a:spcPts val="7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▪"/>
              <a:defRPr/>
            </a:lvl3pPr>
            <a:lvl4pPr marL="1050899" indent="-85723" algn="l" rtl="0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4pPr>
            <a:lvl5pPr marL="1233457" indent="-90484" algn="l" rtl="0"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Font typeface="Verdana"/>
              <a:buChar char="▪"/>
              <a:defRPr/>
            </a:lvl5pPr>
            <a:lvl6pPr marL="2514537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6pPr>
            <a:lvl7pPr marL="2971726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7pPr>
            <a:lvl8pPr marL="3428914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8pPr>
            <a:lvl9pPr marL="3886103" indent="-101597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9pPr>
          </a:lstStyle>
          <a:p>
            <a:endParaRPr/>
          </a:p>
        </p:txBody>
      </p:sp>
      <p:sp>
        <p:nvSpPr>
          <p:cNvPr id="58" name="Shape 58"/>
          <p:cNvSpPr>
            <a:spLocks noGrp="1"/>
          </p:cNvSpPr>
          <p:nvPr>
            <p:ph type="pic" idx="2"/>
          </p:nvPr>
        </p:nvSpPr>
        <p:spPr>
          <a:xfrm>
            <a:off x="486839" y="2009550"/>
            <a:ext cx="5329767" cy="4002312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Shape 59"/>
          <p:cNvSpPr txBox="1">
            <a:spLocks noGrp="1"/>
          </p:cNvSpPr>
          <p:nvPr>
            <p:ph type="sldNum" idx="12"/>
          </p:nvPr>
        </p:nvSpPr>
        <p:spPr>
          <a:xfrm>
            <a:off x="519883" y="6451894"/>
            <a:ext cx="478367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457189" marR="0" indent="0" algn="l" rtl="0">
              <a:spcBef>
                <a:spcPts val="0"/>
              </a:spcBef>
              <a:defRPr/>
            </a:lvl2pPr>
            <a:lvl3pPr marL="914377" marR="0" indent="0" algn="l" rtl="0">
              <a:spcBef>
                <a:spcPts val="0"/>
              </a:spcBef>
              <a:defRPr/>
            </a:lvl3pPr>
            <a:lvl4pPr marL="1371566" marR="0" indent="0" algn="l" rtl="0">
              <a:spcBef>
                <a:spcPts val="0"/>
              </a:spcBef>
              <a:defRPr/>
            </a:lvl4pPr>
            <a:lvl5pPr marL="1828754" marR="0" indent="0" algn="l" rtl="0">
              <a:spcBef>
                <a:spcPts val="0"/>
              </a:spcBef>
              <a:defRPr/>
            </a:lvl5pPr>
            <a:lvl6pPr marL="2285943" marR="0" indent="0" algn="l" rtl="0">
              <a:spcBef>
                <a:spcPts val="0"/>
              </a:spcBef>
              <a:defRPr/>
            </a:lvl6pPr>
            <a:lvl7pPr marL="2743131" marR="0" indent="0" algn="l" rtl="0">
              <a:spcBef>
                <a:spcPts val="0"/>
              </a:spcBef>
              <a:defRPr/>
            </a:lvl7pPr>
            <a:lvl8pPr marL="3200320" marR="0" indent="0" algn="l" rtl="0">
              <a:spcBef>
                <a:spcPts val="0"/>
              </a:spcBef>
              <a:defRPr/>
            </a:lvl8pPr>
            <a:lvl9pPr marL="3657509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dt" idx="10"/>
          </p:nvPr>
        </p:nvSpPr>
        <p:spPr>
          <a:xfrm>
            <a:off x="1080796" y="6451894"/>
            <a:ext cx="219074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457189" marR="0" indent="0" algn="l" rtl="0">
              <a:spcBef>
                <a:spcPts val="0"/>
              </a:spcBef>
              <a:defRPr/>
            </a:lvl2pPr>
            <a:lvl3pPr marL="914377" marR="0" indent="0" algn="l" rtl="0">
              <a:spcBef>
                <a:spcPts val="0"/>
              </a:spcBef>
              <a:defRPr/>
            </a:lvl3pPr>
            <a:lvl4pPr marL="1371566" marR="0" indent="0" algn="l" rtl="0">
              <a:spcBef>
                <a:spcPts val="0"/>
              </a:spcBef>
              <a:defRPr/>
            </a:lvl4pPr>
            <a:lvl5pPr marL="1828754" marR="0" indent="0" algn="l" rtl="0">
              <a:spcBef>
                <a:spcPts val="0"/>
              </a:spcBef>
              <a:defRPr/>
            </a:lvl5pPr>
            <a:lvl6pPr marL="2285943" marR="0" indent="0" algn="l" rtl="0">
              <a:spcBef>
                <a:spcPts val="0"/>
              </a:spcBef>
              <a:defRPr/>
            </a:lvl6pPr>
            <a:lvl7pPr marL="2743131" marR="0" indent="0" algn="l" rtl="0">
              <a:spcBef>
                <a:spcPts val="0"/>
              </a:spcBef>
              <a:defRPr/>
            </a:lvl7pPr>
            <a:lvl8pPr marL="3200320" marR="0" indent="0" algn="l" rtl="0">
              <a:spcBef>
                <a:spcPts val="0"/>
              </a:spcBef>
              <a:defRPr/>
            </a:lvl8pPr>
            <a:lvl9pPr marL="3657509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1" name="Shape 61"/>
          <p:cNvSpPr/>
          <p:nvPr/>
        </p:nvSpPr>
        <p:spPr>
          <a:xfrm>
            <a:off x="0" y="1184829"/>
            <a:ext cx="12192000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baseline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486835" y="1336425"/>
            <a:ext cx="11101916" cy="6412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l" rtl="0">
              <a:spcBef>
                <a:spcPts val="0"/>
              </a:spcBef>
              <a:spcAft>
                <a:spcPts val="0"/>
              </a:spcAft>
              <a:defRPr/>
            </a:lvl1pPr>
            <a:lvl2pPr algn="l" rtl="0">
              <a:spcBef>
                <a:spcPts val="0"/>
              </a:spcBef>
              <a:spcAft>
                <a:spcPts val="0"/>
              </a:spcAft>
              <a:defRPr/>
            </a:lvl2pPr>
            <a:lvl3pPr algn="l" rtl="0">
              <a:spcBef>
                <a:spcPts val="0"/>
              </a:spcBef>
              <a:spcAft>
                <a:spcPts val="0"/>
              </a:spcAft>
              <a:defRPr/>
            </a:lvl3pPr>
            <a:lvl4pPr algn="l" rtl="0">
              <a:spcBef>
                <a:spcPts val="0"/>
              </a:spcBef>
              <a:spcAft>
                <a:spcPts val="0"/>
              </a:spcAft>
              <a:defRPr/>
            </a:lvl4pPr>
            <a:lvl5pPr algn="l" rtl="0">
              <a:spcBef>
                <a:spcPts val="0"/>
              </a:spcBef>
              <a:spcAft>
                <a:spcPts val="0"/>
              </a:spcAft>
              <a:defRPr/>
            </a:lvl5pPr>
            <a:lvl6pPr marL="457189" algn="l" rtl="0">
              <a:spcBef>
                <a:spcPts val="0"/>
              </a:spcBef>
              <a:spcAft>
                <a:spcPts val="0"/>
              </a:spcAft>
              <a:defRPr/>
            </a:lvl6pPr>
            <a:lvl7pPr marL="914377" algn="l" rtl="0">
              <a:spcBef>
                <a:spcPts val="0"/>
              </a:spcBef>
              <a:spcAft>
                <a:spcPts val="0"/>
              </a:spcAft>
              <a:defRPr/>
            </a:lvl7pPr>
            <a:lvl8pPr marL="1371566" algn="l" rtl="0">
              <a:spcBef>
                <a:spcPts val="0"/>
              </a:spcBef>
              <a:spcAft>
                <a:spcPts val="0"/>
              </a:spcAft>
              <a:defRPr/>
            </a:lvl8pPr>
            <a:lvl9pPr marL="1828754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3"/>
          </p:nvPr>
        </p:nvSpPr>
        <p:spPr>
          <a:xfrm>
            <a:off x="7224219" y="6451609"/>
            <a:ext cx="4421036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algn="r" rtl="0">
              <a:spcBef>
                <a:spcPts val="0"/>
              </a:spcBef>
              <a:buClr>
                <a:schemeClr val="lt1"/>
              </a:buClr>
              <a:buFont typeface="Verdana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gradFill>
          <a:gsLst>
            <a:gs pos="0">
              <a:schemeClr val="lt1"/>
            </a:gs>
            <a:gs pos="100000">
              <a:srgbClr val="94949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1828803" y="2743200"/>
            <a:ext cx="9497484" cy="16732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Clr>
                <a:schemeClr val="dk2"/>
              </a:buClr>
              <a:buFont typeface="Verdana"/>
              <a:buNone/>
              <a:defRPr/>
            </a:lvl1pPr>
            <a:lvl2pPr rtl="0">
              <a:spcBef>
                <a:spcPts val="0"/>
              </a:spcBef>
              <a:buClr>
                <a:srgbClr val="888888"/>
              </a:buClr>
              <a:buFont typeface="Verdana"/>
              <a:buNone/>
              <a:defRPr/>
            </a:lvl2pPr>
            <a:lvl3pPr rtl="0">
              <a:spcBef>
                <a:spcPts val="0"/>
              </a:spcBef>
              <a:buClr>
                <a:srgbClr val="888888"/>
              </a:buClr>
              <a:buFont typeface="Verdana"/>
              <a:buNone/>
              <a:defRPr/>
            </a:lvl3pPr>
            <a:lvl4pPr rtl="0">
              <a:spcBef>
                <a:spcPts val="0"/>
              </a:spcBef>
              <a:buClr>
                <a:srgbClr val="888888"/>
              </a:buClr>
              <a:buFont typeface="Verdana"/>
              <a:buNone/>
              <a:defRPr/>
            </a:lvl4pPr>
            <a:lvl5pPr rtl="0">
              <a:spcBef>
                <a:spcPts val="0"/>
              </a:spcBef>
              <a:buClr>
                <a:srgbClr val="888888"/>
              </a:buClr>
              <a:buFont typeface="Verdana"/>
              <a:buNone/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7" name="Shape 77"/>
          <p:cNvSpPr/>
          <p:nvPr/>
        </p:nvSpPr>
        <p:spPr>
          <a:xfrm>
            <a:off x="0" y="1910858"/>
            <a:ext cx="12192000" cy="3692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baseline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828806" y="1600204"/>
            <a:ext cx="10159999" cy="990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l" rtl="0">
              <a:spcBef>
                <a:spcPts val="0"/>
              </a:spcBef>
              <a:buClr>
                <a:srgbClr val="FFFFFF"/>
              </a:buClr>
              <a:buFont typeface="Verdana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pic>
        <p:nvPicPr>
          <p:cNvPr id="79" name="Shape 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" y="0"/>
            <a:ext cx="12191991" cy="124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Shape 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" y="6242676"/>
            <a:ext cx="12191997" cy="6095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Shape 81"/>
          <p:cNvSpPr txBox="1"/>
          <p:nvPr/>
        </p:nvSpPr>
        <p:spPr>
          <a:xfrm>
            <a:off x="172514" y="6521571"/>
            <a:ext cx="478367" cy="307736"/>
          </a:xfrm>
          <a:prstGeom prst="rect">
            <a:avLst/>
          </a:prstGeom>
          <a:noFill/>
          <a:ln>
            <a:noFill/>
          </a:ln>
        </p:spPr>
        <p:txBody>
          <a:bodyPr lIns="0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Verdana"/>
              <a:buNone/>
            </a:pPr>
            <a:r>
              <a:rPr lang="id-ID" sz="1400"/>
              <a:t> 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733424" y="6548436"/>
            <a:ext cx="2190749" cy="254004"/>
          </a:xfrm>
          <a:prstGeom prst="rect">
            <a:avLst/>
          </a:prstGeom>
          <a:noFill/>
          <a:ln>
            <a:noFill/>
          </a:ln>
        </p:spPr>
        <p:txBody>
          <a:bodyPr lIns="0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Verdana"/>
              <a:buNone/>
            </a:pPr>
            <a:r>
              <a:rPr lang="id-ID" sz="1051" b="0" i="0" u="none" strike="noStrike" cap="none" baseline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8/25/2014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9261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981200"/>
            <a:ext cx="539261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MA1114 Kalkulus I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1DE93-466F-4D5E-8551-905CDDD65F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8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MA1114 Kalkulus 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A0E60-C23C-4093-911D-4908E0E006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9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3244358"/>
            <a:ext cx="12191997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baseline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86835" y="1336425"/>
            <a:ext cx="11101916" cy="6412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l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l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l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pic>
        <p:nvPicPr>
          <p:cNvPr id="11" name="Shape 1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6248410"/>
            <a:ext cx="12191997" cy="60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519883" y="6451894"/>
            <a:ext cx="478367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457189" marR="0" indent="0" algn="l" rtl="0">
              <a:spcBef>
                <a:spcPts val="0"/>
              </a:spcBef>
              <a:defRPr/>
            </a:lvl2pPr>
            <a:lvl3pPr marL="914377" marR="0" indent="0" algn="l" rtl="0">
              <a:spcBef>
                <a:spcPts val="0"/>
              </a:spcBef>
              <a:defRPr/>
            </a:lvl3pPr>
            <a:lvl4pPr marL="1371566" marR="0" indent="0" algn="l" rtl="0">
              <a:spcBef>
                <a:spcPts val="0"/>
              </a:spcBef>
              <a:defRPr/>
            </a:lvl4pPr>
            <a:lvl5pPr marL="1828754" marR="0" indent="0" algn="l" rtl="0">
              <a:spcBef>
                <a:spcPts val="0"/>
              </a:spcBef>
              <a:defRPr/>
            </a:lvl5pPr>
            <a:lvl6pPr marL="2285943" marR="0" indent="0" algn="l" rtl="0">
              <a:spcBef>
                <a:spcPts val="0"/>
              </a:spcBef>
              <a:defRPr/>
            </a:lvl6pPr>
            <a:lvl7pPr marL="2743131" marR="0" indent="0" algn="l" rtl="0">
              <a:spcBef>
                <a:spcPts val="0"/>
              </a:spcBef>
              <a:defRPr/>
            </a:lvl7pPr>
            <a:lvl8pPr marL="3200320" marR="0" indent="0" algn="l" rtl="0">
              <a:spcBef>
                <a:spcPts val="0"/>
              </a:spcBef>
              <a:defRPr/>
            </a:lvl8pPr>
            <a:lvl9pPr marL="3657509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1080796" y="6451894"/>
            <a:ext cx="219074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457189" marR="0" indent="0" algn="l" rtl="0">
              <a:spcBef>
                <a:spcPts val="0"/>
              </a:spcBef>
              <a:defRPr/>
            </a:lvl2pPr>
            <a:lvl3pPr marL="914377" marR="0" indent="0" algn="l" rtl="0">
              <a:spcBef>
                <a:spcPts val="0"/>
              </a:spcBef>
              <a:defRPr/>
            </a:lvl3pPr>
            <a:lvl4pPr marL="1371566" marR="0" indent="0" algn="l" rtl="0">
              <a:spcBef>
                <a:spcPts val="0"/>
              </a:spcBef>
              <a:defRPr/>
            </a:lvl4pPr>
            <a:lvl5pPr marL="1828754" marR="0" indent="0" algn="l" rtl="0">
              <a:spcBef>
                <a:spcPts val="0"/>
              </a:spcBef>
              <a:defRPr/>
            </a:lvl5pPr>
            <a:lvl6pPr marL="2285943" marR="0" indent="0" algn="l" rtl="0">
              <a:spcBef>
                <a:spcPts val="0"/>
              </a:spcBef>
              <a:defRPr/>
            </a:lvl6pPr>
            <a:lvl7pPr marL="2743131" marR="0" indent="0" algn="l" rtl="0">
              <a:spcBef>
                <a:spcPts val="0"/>
              </a:spcBef>
              <a:defRPr/>
            </a:lvl7pPr>
            <a:lvl8pPr marL="3200320" marR="0" indent="0" algn="l" rtl="0">
              <a:spcBef>
                <a:spcPts val="0"/>
              </a:spcBef>
              <a:defRPr/>
            </a:lvl8pPr>
            <a:lvl9pPr marL="3657509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" name="Shape 14"/>
          <p:cNvSpPr/>
          <p:nvPr/>
        </p:nvSpPr>
        <p:spPr>
          <a:xfrm rot="-5400000">
            <a:off x="12884415" y="5910820"/>
            <a:ext cx="1709736" cy="18462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id-ID" sz="600" b="0" i="0" u="none" strike="noStrike" cap="none" baseline="0">
                <a:solidFill>
                  <a:srgbClr val="7F7F7F"/>
                </a:solidFill>
                <a:latin typeface="Verdana"/>
                <a:ea typeface="Verdana"/>
                <a:cs typeface="Verdana"/>
                <a:sym typeface="Verdana"/>
              </a:rPr>
              <a:t>12-CRS-0106 REVISED 8 FEB 2013</a:t>
            </a:r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86835" y="1977656"/>
            <a:ext cx="11101916" cy="405484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6075" marR="0" indent="-140334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Verdana"/>
              <a:buChar char="•"/>
              <a:defRPr/>
            </a:lvl1pPr>
            <a:lvl2pPr marL="593725" marR="0" indent="-60325" algn="l" rtl="0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2pPr>
            <a:lvl3pPr marL="822325" marR="0" indent="-73025" algn="l" rtl="0">
              <a:spcBef>
                <a:spcPts val="7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▪"/>
              <a:defRPr/>
            </a:lvl3pPr>
            <a:lvl4pPr marL="1050925" marR="0" indent="-85725" algn="l" rtl="0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Font typeface="Verdana"/>
              <a:buChar char="–"/>
              <a:defRPr/>
            </a:lvl4pPr>
            <a:lvl5pPr marL="1233488" marR="0" indent="-90487" algn="l" rtl="0"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Font typeface="Verdana"/>
              <a:buChar char="▪"/>
              <a:defRPr/>
            </a:lvl5pPr>
            <a:lvl6pPr marL="2514600" marR="0" indent="-101600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6pPr>
            <a:lvl7pPr marL="2971800" marR="0" indent="-101600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7pPr>
            <a:lvl8pPr marL="3429000" marR="0" indent="-101600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8pPr>
            <a:lvl9pPr marL="3886200" marR="0" indent="-101600" algn="l" rtl="0">
              <a:spcBef>
                <a:spcPts val="400"/>
              </a:spcBef>
              <a:buClr>
                <a:schemeClr val="dk1"/>
              </a:buClr>
              <a:buFont typeface="Verdana"/>
              <a:buChar char="•"/>
              <a:defRPr/>
            </a:lvl9pPr>
          </a:lstStyle>
          <a:p>
            <a:endParaRPr/>
          </a:p>
        </p:txBody>
      </p:sp>
      <p:pic>
        <p:nvPicPr>
          <p:cNvPr id="16" name="Shape 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" y="0"/>
            <a:ext cx="12191991" cy="124777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6" r:id="rId4"/>
    <p:sldLayoutId id="2147483691" r:id="rId5"/>
    <p:sldLayoutId id="2147483692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29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oleObject" Target="../embeddings/oleObject2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C6A45154-50D7-4E15-B7E7-C0BDC226DBB3}" type="slidenum">
              <a:rPr lang="en-US" sz="1200" smtClean="0">
                <a:latin typeface="Arial Black" pitchFamily="34" charset="0"/>
              </a:rPr>
              <a:pPr/>
              <a:t>0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44740" name="Text Box 4"/>
          <p:cNvSpPr txBox="1">
            <a:spLocks noChangeArrowheads="1"/>
          </p:cNvSpPr>
          <p:nvPr/>
        </p:nvSpPr>
        <p:spPr bwMode="auto">
          <a:xfrm>
            <a:off x="1576552" y="1222151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b="1">
                <a:latin typeface="+mn-lt"/>
              </a:rPr>
              <a:t>Kekontinuan Fungsi</a:t>
            </a:r>
          </a:p>
        </p:txBody>
      </p:sp>
      <p:sp>
        <p:nvSpPr>
          <p:cNvPr id="244741" name="Text Box 5"/>
          <p:cNvSpPr txBox="1">
            <a:spLocks noChangeArrowheads="1"/>
          </p:cNvSpPr>
          <p:nvPr/>
        </p:nvSpPr>
        <p:spPr bwMode="auto">
          <a:xfrm>
            <a:off x="1588448" y="1558791"/>
            <a:ext cx="5884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Fungsi </a:t>
            </a:r>
            <a:r>
              <a:rPr lang="en-US" sz="1800" i="1">
                <a:latin typeface="+mn-lt"/>
              </a:rPr>
              <a:t>f</a:t>
            </a:r>
            <a:r>
              <a:rPr lang="en-US" sz="1800">
                <a:latin typeface="+mn-lt"/>
              </a:rPr>
              <a:t>(</a:t>
            </a:r>
            <a:r>
              <a:rPr lang="en-US" sz="1800" i="1">
                <a:latin typeface="+mn-lt"/>
              </a:rPr>
              <a:t>x</a:t>
            </a:r>
            <a:r>
              <a:rPr lang="en-US" sz="1800">
                <a:latin typeface="+mn-lt"/>
              </a:rPr>
              <a:t>) dikatakan </a:t>
            </a:r>
            <a:r>
              <a:rPr lang="en-US" sz="1800" b="1" u="sng">
                <a:latin typeface="+mn-lt"/>
              </a:rPr>
              <a:t>kontinu</a:t>
            </a:r>
            <a:r>
              <a:rPr lang="en-US" sz="1800">
                <a:latin typeface="+mn-lt"/>
              </a:rPr>
              <a:t> pada suatu titik </a:t>
            </a:r>
            <a:r>
              <a:rPr lang="en-US" sz="1800" i="1">
                <a:latin typeface="+mn-lt"/>
              </a:rPr>
              <a:t>x</a:t>
            </a:r>
            <a:r>
              <a:rPr lang="en-US" sz="1800">
                <a:latin typeface="+mn-lt"/>
              </a:rPr>
              <a:t> = </a:t>
            </a:r>
            <a:r>
              <a:rPr lang="en-US" sz="1800" i="1">
                <a:latin typeface="+mn-lt"/>
              </a:rPr>
              <a:t>a </a:t>
            </a:r>
            <a:r>
              <a:rPr lang="en-US" sz="1800">
                <a:latin typeface="+mn-lt"/>
              </a:rPr>
              <a:t> jika</a:t>
            </a:r>
          </a:p>
        </p:txBody>
      </p:sp>
      <p:sp>
        <p:nvSpPr>
          <p:cNvPr id="244742" name="Text Box 6"/>
          <p:cNvSpPr txBox="1">
            <a:spLocks noChangeArrowheads="1"/>
          </p:cNvSpPr>
          <p:nvPr/>
        </p:nvSpPr>
        <p:spPr bwMode="auto">
          <a:xfrm>
            <a:off x="1936263" y="1865863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(i)    </a:t>
            </a:r>
            <a:r>
              <a:rPr lang="id-ID" sz="1800" dirty="0" smtClean="0">
                <a:latin typeface="+mn-lt"/>
              </a:rPr>
              <a:t>  </a:t>
            </a:r>
            <a:r>
              <a:rPr lang="en-US" sz="1800" dirty="0" smtClean="0">
                <a:latin typeface="+mn-lt"/>
              </a:rPr>
              <a:t>f(a</a:t>
            </a:r>
            <a:r>
              <a:rPr lang="en-US" sz="1800" dirty="0">
                <a:latin typeface="+mn-lt"/>
              </a:rPr>
              <a:t>) </a:t>
            </a:r>
            <a:r>
              <a:rPr lang="en-US" sz="1800" dirty="0" err="1">
                <a:latin typeface="+mn-lt"/>
              </a:rPr>
              <a:t>ada</a:t>
            </a:r>
            <a:endParaRPr lang="en-US" sz="1800" dirty="0">
              <a:latin typeface="+mn-lt"/>
            </a:endParaRPr>
          </a:p>
        </p:txBody>
      </p:sp>
      <p:graphicFrame>
        <p:nvGraphicFramePr>
          <p:cNvPr id="244743" name="Object 7"/>
          <p:cNvGraphicFramePr>
            <a:graphicFrameLocks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28954316"/>
              </p:ext>
            </p:extLst>
          </p:nvPr>
        </p:nvGraphicFramePr>
        <p:xfrm>
          <a:off x="2557729" y="2305005"/>
          <a:ext cx="178190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3" imgW="838200" imgH="279400" progId="Equation.3">
                  <p:embed/>
                </p:oleObj>
              </mc:Choice>
              <mc:Fallback>
                <p:oleObj name="Equation" r:id="rId3" imgW="8382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729" y="2305005"/>
                        <a:ext cx="178190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5" name="Text Box 9"/>
          <p:cNvSpPr txBox="1">
            <a:spLocks noChangeArrowheads="1"/>
          </p:cNvSpPr>
          <p:nvPr/>
        </p:nvSpPr>
        <p:spPr bwMode="auto">
          <a:xfrm>
            <a:off x="1922585" y="23173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(ii)</a:t>
            </a:r>
          </a:p>
        </p:txBody>
      </p:sp>
      <p:sp>
        <p:nvSpPr>
          <p:cNvPr id="244746" name="Text Box 10"/>
          <p:cNvSpPr txBox="1">
            <a:spLocks noChangeArrowheads="1"/>
          </p:cNvSpPr>
          <p:nvPr/>
        </p:nvSpPr>
        <p:spPr bwMode="auto">
          <a:xfrm>
            <a:off x="1944078" y="2872383"/>
            <a:ext cx="4924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(iii)</a:t>
            </a:r>
          </a:p>
        </p:txBody>
      </p:sp>
      <p:graphicFrame>
        <p:nvGraphicFramePr>
          <p:cNvPr id="244747" name="Object 11"/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4593351"/>
              </p:ext>
            </p:extLst>
          </p:nvPr>
        </p:nvGraphicFramePr>
        <p:xfrm>
          <a:off x="2516785" y="2878115"/>
          <a:ext cx="2157046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5" imgW="1016000" imgH="279400" progId="Equation.3">
                  <p:embed/>
                </p:oleObj>
              </mc:Choice>
              <mc:Fallback>
                <p:oleObj name="Equation" r:id="rId5" imgW="1016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785" y="2878115"/>
                        <a:ext cx="2157046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50" name="Text Box 14"/>
          <p:cNvSpPr txBox="1">
            <a:spLocks noChangeArrowheads="1"/>
          </p:cNvSpPr>
          <p:nvPr/>
        </p:nvSpPr>
        <p:spPr bwMode="auto">
          <a:xfrm>
            <a:off x="1574685" y="3495586"/>
            <a:ext cx="78277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Jika paling kurang salah satu syarat diatas tidak dipenuhi maka f dikatakan</a:t>
            </a:r>
          </a:p>
          <a:p>
            <a:r>
              <a:rPr lang="en-US" sz="1800">
                <a:latin typeface="+mn-lt"/>
              </a:rPr>
              <a:t>tidak kontinu di x=a</a:t>
            </a:r>
          </a:p>
        </p:txBody>
      </p:sp>
      <p:sp>
        <p:nvSpPr>
          <p:cNvPr id="244751" name="Line 15"/>
          <p:cNvSpPr>
            <a:spLocks noChangeShapeType="1"/>
          </p:cNvSpPr>
          <p:nvPr/>
        </p:nvSpPr>
        <p:spPr bwMode="auto">
          <a:xfrm>
            <a:off x="3657600" y="43434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4752" name="Line 16"/>
          <p:cNvSpPr>
            <a:spLocks noChangeShapeType="1"/>
          </p:cNvSpPr>
          <p:nvPr/>
        </p:nvSpPr>
        <p:spPr bwMode="auto">
          <a:xfrm>
            <a:off x="2250831" y="5562600"/>
            <a:ext cx="37513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4753" name="Text Box 17"/>
          <p:cNvSpPr txBox="1">
            <a:spLocks noChangeArrowheads="1"/>
          </p:cNvSpPr>
          <p:nvPr/>
        </p:nvSpPr>
        <p:spPr bwMode="auto">
          <a:xfrm>
            <a:off x="4411785" y="5429251"/>
            <a:ext cx="3907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</a:t>
            </a:r>
          </a:p>
        </p:txBody>
      </p:sp>
      <p:sp>
        <p:nvSpPr>
          <p:cNvPr id="244758" name="Text Box 22"/>
          <p:cNvSpPr txBox="1">
            <a:spLocks noChangeArrowheads="1"/>
          </p:cNvSpPr>
          <p:nvPr/>
        </p:nvSpPr>
        <p:spPr bwMode="auto">
          <a:xfrm>
            <a:off x="1668585" y="4273551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(i)</a:t>
            </a:r>
          </a:p>
        </p:txBody>
      </p:sp>
      <p:sp>
        <p:nvSpPr>
          <p:cNvPr id="244764" name="Freeform 28"/>
          <p:cNvSpPr>
            <a:spLocks/>
          </p:cNvSpPr>
          <p:nvPr/>
        </p:nvSpPr>
        <p:spPr bwMode="auto">
          <a:xfrm>
            <a:off x="3376246" y="4876800"/>
            <a:ext cx="2438400" cy="307777"/>
          </a:xfrm>
          <a:custGeom>
            <a:avLst/>
            <a:gdLst>
              <a:gd name="T0" fmla="*/ 0 w 1248"/>
              <a:gd name="T1" fmla="*/ 2147483647 h 288"/>
              <a:gd name="T2" fmla="*/ 2147483647 w 1248"/>
              <a:gd name="T3" fmla="*/ 2147483647 h 288"/>
              <a:gd name="T4" fmla="*/ 2147483647 w 1248"/>
              <a:gd name="T5" fmla="*/ 2147483647 h 288"/>
              <a:gd name="T6" fmla="*/ 2147483647 w 1248"/>
              <a:gd name="T7" fmla="*/ 2147483647 h 288"/>
              <a:gd name="T8" fmla="*/ 2147483647 w 1248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288"/>
              <a:gd name="T17" fmla="*/ 1248 w 1248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288">
                <a:moveTo>
                  <a:pt x="0" y="288"/>
                </a:moveTo>
                <a:cubicBezTo>
                  <a:pt x="100" y="260"/>
                  <a:pt x="200" y="232"/>
                  <a:pt x="288" y="192"/>
                </a:cubicBezTo>
                <a:cubicBezTo>
                  <a:pt x="376" y="152"/>
                  <a:pt x="424" y="56"/>
                  <a:pt x="528" y="48"/>
                </a:cubicBezTo>
                <a:cubicBezTo>
                  <a:pt x="632" y="40"/>
                  <a:pt x="792" y="152"/>
                  <a:pt x="912" y="144"/>
                </a:cubicBezTo>
                <a:cubicBezTo>
                  <a:pt x="1032" y="136"/>
                  <a:pt x="1140" y="68"/>
                  <a:pt x="124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4765" name="Text Box 29"/>
          <p:cNvSpPr txBox="1">
            <a:spLocks noChangeArrowheads="1"/>
          </p:cNvSpPr>
          <p:nvPr/>
        </p:nvSpPr>
        <p:spPr bwMode="auto">
          <a:xfrm>
            <a:off x="4423508" y="4794251"/>
            <a:ext cx="311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/>
              <a:t>º</a:t>
            </a:r>
          </a:p>
        </p:txBody>
      </p:sp>
      <p:sp>
        <p:nvSpPr>
          <p:cNvPr id="244766" name="Line 30"/>
          <p:cNvSpPr>
            <a:spLocks noChangeShapeType="1"/>
          </p:cNvSpPr>
          <p:nvPr/>
        </p:nvSpPr>
        <p:spPr bwMode="auto">
          <a:xfrm>
            <a:off x="4595446" y="4953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4767" name="Line 31"/>
          <p:cNvSpPr>
            <a:spLocks noChangeShapeType="1"/>
          </p:cNvSpPr>
          <p:nvPr/>
        </p:nvSpPr>
        <p:spPr bwMode="auto">
          <a:xfrm flipH="1">
            <a:off x="3657600" y="4953000"/>
            <a:ext cx="9378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4768" name="Text Box 32"/>
          <p:cNvSpPr txBox="1">
            <a:spLocks noChangeArrowheads="1"/>
          </p:cNvSpPr>
          <p:nvPr/>
        </p:nvSpPr>
        <p:spPr bwMode="auto">
          <a:xfrm>
            <a:off x="7483231" y="4654551"/>
            <a:ext cx="1531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f(a) tidak ada</a:t>
            </a:r>
          </a:p>
        </p:txBody>
      </p:sp>
      <p:sp>
        <p:nvSpPr>
          <p:cNvPr id="244769" name="AutoShape 33"/>
          <p:cNvSpPr>
            <a:spLocks noChangeArrowheads="1"/>
          </p:cNvSpPr>
          <p:nvPr/>
        </p:nvSpPr>
        <p:spPr bwMode="auto">
          <a:xfrm>
            <a:off x="8253046" y="5191422"/>
            <a:ext cx="366960" cy="361355"/>
          </a:xfrm>
          <a:prstGeom prst="down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44770" name="Text Box 34"/>
          <p:cNvSpPr txBox="1">
            <a:spLocks noChangeArrowheads="1"/>
          </p:cNvSpPr>
          <p:nvPr/>
        </p:nvSpPr>
        <p:spPr bwMode="auto">
          <a:xfrm>
            <a:off x="7489093" y="5645151"/>
            <a:ext cx="2294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 tidak kontinu di x=a</a:t>
            </a:r>
          </a:p>
        </p:txBody>
      </p:sp>
    </p:spTree>
    <p:extLst>
      <p:ext uri="{BB962C8B-B14F-4D97-AF65-F5344CB8AC3E}">
        <p14:creationId xmlns:p14="http://schemas.microsoft.com/office/powerpoint/2010/main" val="417658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4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4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4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4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4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4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4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4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4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4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4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24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4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4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4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0" grpId="0"/>
      <p:bldP spid="244741" grpId="0"/>
      <p:bldP spid="244742" grpId="0"/>
      <p:bldP spid="244745" grpId="0"/>
      <p:bldP spid="244746" grpId="0"/>
      <p:bldP spid="244750" grpId="0"/>
      <p:bldP spid="244751" grpId="0" animBg="1"/>
      <p:bldP spid="244752" grpId="0" animBg="1"/>
      <p:bldP spid="244753" grpId="0"/>
      <p:bldP spid="244758" grpId="0"/>
      <p:bldP spid="244764" grpId="0" animBg="1"/>
      <p:bldP spid="244765" grpId="0"/>
      <p:bldP spid="244766" grpId="0" animBg="1"/>
      <p:bldP spid="244767" grpId="0" animBg="1"/>
      <p:bldP spid="244768" grpId="0"/>
      <p:bldP spid="244769" grpId="0" animBg="1"/>
      <p:bldP spid="24477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488672" y="6417310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CF0C8C20-22AB-42A8-B03D-FFDD28C3F5BE}" type="slidenum">
              <a:rPr lang="en-US" sz="1200" smtClean="0">
                <a:latin typeface="+mn-lt"/>
              </a:rPr>
              <a:pPr/>
              <a:t>1</a:t>
            </a:fld>
            <a:endParaRPr lang="en-US" sz="1200" dirty="0" smtClean="0">
              <a:latin typeface="+mn-lt"/>
            </a:endParaRPr>
          </a:p>
        </p:txBody>
      </p:sp>
      <p:sp>
        <p:nvSpPr>
          <p:cNvPr id="249860" name="Line 4"/>
          <p:cNvSpPr>
            <a:spLocks noChangeShapeType="1"/>
          </p:cNvSpPr>
          <p:nvPr/>
        </p:nvSpPr>
        <p:spPr bwMode="auto">
          <a:xfrm>
            <a:off x="2887669" y="1403456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61" name="Line 5"/>
          <p:cNvSpPr>
            <a:spLocks noChangeShapeType="1"/>
          </p:cNvSpPr>
          <p:nvPr/>
        </p:nvSpPr>
        <p:spPr bwMode="auto">
          <a:xfrm>
            <a:off x="1480900" y="2622656"/>
            <a:ext cx="37513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62" name="Text Box 6"/>
          <p:cNvSpPr txBox="1">
            <a:spLocks noChangeArrowheads="1"/>
          </p:cNvSpPr>
          <p:nvPr/>
        </p:nvSpPr>
        <p:spPr bwMode="auto">
          <a:xfrm>
            <a:off x="3641854" y="253025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</a:t>
            </a:r>
          </a:p>
        </p:txBody>
      </p:sp>
      <p:sp>
        <p:nvSpPr>
          <p:cNvPr id="249863" name="Freeform 7"/>
          <p:cNvSpPr>
            <a:spLocks/>
          </p:cNvSpPr>
          <p:nvPr/>
        </p:nvSpPr>
        <p:spPr bwMode="auto">
          <a:xfrm>
            <a:off x="2594153" y="2009264"/>
            <a:ext cx="1184295" cy="369332"/>
          </a:xfrm>
          <a:custGeom>
            <a:avLst/>
            <a:gdLst>
              <a:gd name="T0" fmla="*/ 0 w 576"/>
              <a:gd name="T1" fmla="*/ 2147483647 h 160"/>
              <a:gd name="T2" fmla="*/ 2147483647 w 576"/>
              <a:gd name="T3" fmla="*/ 2147483647 h 160"/>
              <a:gd name="T4" fmla="*/ 2147483647 w 576"/>
              <a:gd name="T5" fmla="*/ 2147483647 h 160"/>
              <a:gd name="T6" fmla="*/ 0 60000 65536"/>
              <a:gd name="T7" fmla="*/ 0 60000 65536"/>
              <a:gd name="T8" fmla="*/ 0 60000 65536"/>
              <a:gd name="T9" fmla="*/ 0 w 576"/>
              <a:gd name="T10" fmla="*/ 0 h 160"/>
              <a:gd name="T11" fmla="*/ 576 w 576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160">
                <a:moveTo>
                  <a:pt x="0" y="160"/>
                </a:moveTo>
                <a:cubicBezTo>
                  <a:pt x="48" y="96"/>
                  <a:pt x="96" y="32"/>
                  <a:pt x="192" y="16"/>
                </a:cubicBezTo>
                <a:cubicBezTo>
                  <a:pt x="288" y="0"/>
                  <a:pt x="432" y="32"/>
                  <a:pt x="576" y="6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64" name="Freeform 8"/>
          <p:cNvSpPr>
            <a:spLocks/>
          </p:cNvSpPr>
          <p:nvPr/>
        </p:nvSpPr>
        <p:spPr bwMode="auto">
          <a:xfrm>
            <a:off x="3835958" y="1766982"/>
            <a:ext cx="1001649" cy="45719"/>
          </a:xfrm>
          <a:custGeom>
            <a:avLst/>
            <a:gdLst>
              <a:gd name="T0" fmla="*/ 0 w 672"/>
              <a:gd name="T1" fmla="*/ 2147483647 h 56"/>
              <a:gd name="T2" fmla="*/ 2147483647 w 672"/>
              <a:gd name="T3" fmla="*/ 0 h 56"/>
              <a:gd name="T4" fmla="*/ 2147483647 w 672"/>
              <a:gd name="T5" fmla="*/ 2147483647 h 56"/>
              <a:gd name="T6" fmla="*/ 2147483647 w 672"/>
              <a:gd name="T7" fmla="*/ 2147483647 h 5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56"/>
              <a:gd name="T14" fmla="*/ 672 w 672"/>
              <a:gd name="T15" fmla="*/ 56 h 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56">
                <a:moveTo>
                  <a:pt x="0" y="48"/>
                </a:moveTo>
                <a:cubicBezTo>
                  <a:pt x="56" y="24"/>
                  <a:pt x="112" y="0"/>
                  <a:pt x="192" y="0"/>
                </a:cubicBezTo>
                <a:cubicBezTo>
                  <a:pt x="272" y="0"/>
                  <a:pt x="400" y="40"/>
                  <a:pt x="480" y="48"/>
                </a:cubicBezTo>
                <a:cubicBezTo>
                  <a:pt x="560" y="56"/>
                  <a:pt x="616" y="52"/>
                  <a:pt x="67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65" name="Text Box 9"/>
          <p:cNvSpPr txBox="1">
            <a:spLocks noChangeArrowheads="1"/>
          </p:cNvSpPr>
          <p:nvPr/>
        </p:nvSpPr>
        <p:spPr bwMode="auto">
          <a:xfrm>
            <a:off x="898654" y="133360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(ii)</a:t>
            </a:r>
          </a:p>
        </p:txBody>
      </p:sp>
      <p:sp>
        <p:nvSpPr>
          <p:cNvPr id="249866" name="Line 10"/>
          <p:cNvSpPr>
            <a:spLocks noChangeShapeType="1"/>
          </p:cNvSpPr>
          <p:nvPr/>
        </p:nvSpPr>
        <p:spPr bwMode="auto">
          <a:xfrm>
            <a:off x="3016623" y="2730606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67" name="Line 11"/>
          <p:cNvSpPr>
            <a:spLocks noChangeShapeType="1"/>
          </p:cNvSpPr>
          <p:nvPr/>
        </p:nvSpPr>
        <p:spPr bwMode="auto">
          <a:xfrm flipH="1">
            <a:off x="4415577" y="2746481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68" name="Line 12"/>
          <p:cNvSpPr>
            <a:spLocks noChangeShapeType="1"/>
          </p:cNvSpPr>
          <p:nvPr/>
        </p:nvSpPr>
        <p:spPr bwMode="auto">
          <a:xfrm flipH="1">
            <a:off x="2868131" y="2165456"/>
            <a:ext cx="9378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4108" name="Rectangle 15"/>
          <p:cNvSpPr>
            <a:spLocks noChangeArrowheads="1"/>
          </p:cNvSpPr>
          <p:nvPr/>
        </p:nvSpPr>
        <p:spPr bwMode="auto">
          <a:xfrm>
            <a:off x="54592" y="377625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498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552490"/>
              </p:ext>
            </p:extLst>
          </p:nvPr>
        </p:nvGraphicFramePr>
        <p:xfrm>
          <a:off x="2467593" y="2013056"/>
          <a:ext cx="30675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3" imgW="164885" imgH="215619" progId="Equation.3">
                  <p:embed/>
                </p:oleObj>
              </mc:Choice>
              <mc:Fallback>
                <p:oleObj name="Equation" r:id="rId3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593" y="2013056"/>
                        <a:ext cx="306753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Rectangle 17"/>
          <p:cNvSpPr>
            <a:spLocks noChangeArrowheads="1"/>
          </p:cNvSpPr>
          <p:nvPr/>
        </p:nvSpPr>
        <p:spPr bwMode="auto">
          <a:xfrm>
            <a:off x="54592" y="377625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498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238247"/>
              </p:ext>
            </p:extLst>
          </p:nvPr>
        </p:nvGraphicFramePr>
        <p:xfrm>
          <a:off x="2473454" y="1708256"/>
          <a:ext cx="3243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5" imgW="190335" imgH="215713" progId="Equation.3">
                  <p:embed/>
                </p:oleObj>
              </mc:Choice>
              <mc:Fallback>
                <p:oleObj name="Equation" r:id="rId5" imgW="190335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454" y="1708256"/>
                        <a:ext cx="3243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74" name="Line 18"/>
          <p:cNvSpPr>
            <a:spLocks noChangeShapeType="1"/>
          </p:cNvSpPr>
          <p:nvPr/>
        </p:nvSpPr>
        <p:spPr bwMode="auto">
          <a:xfrm flipH="1">
            <a:off x="2868131" y="1860656"/>
            <a:ext cx="9378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75" name="Text Box 19"/>
          <p:cNvSpPr txBox="1">
            <a:spLocks noChangeArrowheads="1"/>
          </p:cNvSpPr>
          <p:nvPr/>
        </p:nvSpPr>
        <p:spPr bwMode="auto">
          <a:xfrm>
            <a:off x="6035315" y="1325030"/>
            <a:ext cx="58382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 err="1">
                <a:latin typeface="+mn-lt"/>
              </a:rPr>
              <a:t>Karena</a:t>
            </a:r>
            <a:r>
              <a:rPr lang="en-US" sz="1800" dirty="0">
                <a:latin typeface="+mn-lt"/>
              </a:rPr>
              <a:t> limit </a:t>
            </a:r>
            <a:r>
              <a:rPr lang="en-US" sz="1800" dirty="0" err="1">
                <a:latin typeface="+mn-lt"/>
              </a:rPr>
              <a:t>kiri</a:t>
            </a:r>
            <a:r>
              <a:rPr lang="en-US" sz="1800" dirty="0">
                <a:latin typeface="+mn-lt"/>
              </a:rPr>
              <a:t>(L1) </a:t>
            </a:r>
            <a:r>
              <a:rPr lang="en-US" sz="1800" dirty="0" err="1" smtClean="0">
                <a:latin typeface="+mn-lt"/>
              </a:rPr>
              <a:t>tidak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sama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dengan</a:t>
            </a:r>
            <a:r>
              <a:rPr lang="en-US" sz="1800" dirty="0">
                <a:latin typeface="+mn-lt"/>
              </a:rPr>
              <a:t> limit </a:t>
            </a:r>
            <a:r>
              <a:rPr lang="en-US" sz="1800" dirty="0" err="1">
                <a:latin typeface="+mn-lt"/>
              </a:rPr>
              <a:t>kanan</a:t>
            </a:r>
            <a:r>
              <a:rPr lang="en-US" sz="1800" dirty="0">
                <a:latin typeface="+mn-lt"/>
              </a:rPr>
              <a:t>(L2)</a:t>
            </a:r>
          </a:p>
          <a:p>
            <a:r>
              <a:rPr lang="en-US" sz="1800" dirty="0" err="1">
                <a:latin typeface="+mn-lt"/>
              </a:rPr>
              <a:t>maka</a:t>
            </a:r>
            <a:r>
              <a:rPr lang="en-US" sz="1800" dirty="0">
                <a:latin typeface="+mn-lt"/>
              </a:rPr>
              <a:t> f(x) </a:t>
            </a:r>
            <a:r>
              <a:rPr lang="en-US" sz="1800" dirty="0" err="1">
                <a:latin typeface="+mn-lt"/>
              </a:rPr>
              <a:t>tidak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mempunyai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limit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di </a:t>
            </a:r>
            <a:r>
              <a:rPr lang="en-US" sz="1800" dirty="0">
                <a:latin typeface="+mn-lt"/>
              </a:rPr>
              <a:t>x=a</a:t>
            </a:r>
          </a:p>
        </p:txBody>
      </p:sp>
      <p:sp>
        <p:nvSpPr>
          <p:cNvPr id="249876" name="AutoShape 20"/>
          <p:cNvSpPr>
            <a:spLocks noChangeArrowheads="1"/>
          </p:cNvSpPr>
          <p:nvPr/>
        </p:nvSpPr>
        <p:spPr bwMode="auto">
          <a:xfrm>
            <a:off x="7928592" y="2114959"/>
            <a:ext cx="366960" cy="437198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77" name="Text Box 21"/>
          <p:cNvSpPr txBox="1">
            <a:spLocks noChangeArrowheads="1"/>
          </p:cNvSpPr>
          <p:nvPr/>
        </p:nvSpPr>
        <p:spPr bwMode="auto">
          <a:xfrm>
            <a:off x="6131054" y="2649471"/>
            <a:ext cx="33201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Fungsi f(x) tidak kontinu di x=a</a:t>
            </a:r>
          </a:p>
        </p:txBody>
      </p:sp>
      <p:sp>
        <p:nvSpPr>
          <p:cNvPr id="249878" name="Text Box 22"/>
          <p:cNvSpPr txBox="1">
            <a:spLocks noChangeArrowheads="1"/>
          </p:cNvSpPr>
          <p:nvPr/>
        </p:nvSpPr>
        <p:spPr bwMode="auto">
          <a:xfrm>
            <a:off x="967039" y="3924407"/>
            <a:ext cx="4924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(iii)</a:t>
            </a:r>
          </a:p>
        </p:txBody>
      </p:sp>
      <p:sp>
        <p:nvSpPr>
          <p:cNvPr id="249879" name="Line 23"/>
          <p:cNvSpPr>
            <a:spLocks noChangeShapeType="1"/>
          </p:cNvSpPr>
          <p:nvPr/>
        </p:nvSpPr>
        <p:spPr bwMode="auto">
          <a:xfrm>
            <a:off x="2868130" y="3841856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80" name="Line 24"/>
          <p:cNvSpPr>
            <a:spLocks noChangeShapeType="1"/>
          </p:cNvSpPr>
          <p:nvPr/>
        </p:nvSpPr>
        <p:spPr bwMode="auto">
          <a:xfrm>
            <a:off x="1836500" y="5365856"/>
            <a:ext cx="35638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81" name="Freeform 25"/>
          <p:cNvSpPr>
            <a:spLocks/>
          </p:cNvSpPr>
          <p:nvPr/>
        </p:nvSpPr>
        <p:spPr bwMode="auto">
          <a:xfrm>
            <a:off x="2854483" y="4301823"/>
            <a:ext cx="2222484" cy="691655"/>
          </a:xfrm>
          <a:custGeom>
            <a:avLst/>
            <a:gdLst>
              <a:gd name="T0" fmla="*/ 0 w 1152"/>
              <a:gd name="T1" fmla="*/ 2147483647 h 440"/>
              <a:gd name="T2" fmla="*/ 2147483647 w 1152"/>
              <a:gd name="T3" fmla="*/ 2147483647 h 440"/>
              <a:gd name="T4" fmla="*/ 2147483647 w 1152"/>
              <a:gd name="T5" fmla="*/ 2147483647 h 440"/>
              <a:gd name="T6" fmla="*/ 2147483647 w 1152"/>
              <a:gd name="T7" fmla="*/ 2147483647 h 440"/>
              <a:gd name="T8" fmla="*/ 2147483647 w 1152"/>
              <a:gd name="T9" fmla="*/ 2147483647 h 4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440"/>
              <a:gd name="T17" fmla="*/ 1152 w 1152"/>
              <a:gd name="T18" fmla="*/ 440 h 4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440">
                <a:moveTo>
                  <a:pt x="0" y="440"/>
                </a:moveTo>
                <a:cubicBezTo>
                  <a:pt x="64" y="368"/>
                  <a:pt x="128" y="296"/>
                  <a:pt x="240" y="248"/>
                </a:cubicBezTo>
                <a:cubicBezTo>
                  <a:pt x="352" y="200"/>
                  <a:pt x="552" y="192"/>
                  <a:pt x="672" y="152"/>
                </a:cubicBezTo>
                <a:cubicBezTo>
                  <a:pt x="792" y="112"/>
                  <a:pt x="880" y="16"/>
                  <a:pt x="960" y="8"/>
                </a:cubicBezTo>
                <a:cubicBezTo>
                  <a:pt x="1040" y="0"/>
                  <a:pt x="1096" y="52"/>
                  <a:pt x="1152" y="1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82" name="Text Box 26"/>
          <p:cNvSpPr txBox="1">
            <a:spLocks noChangeArrowheads="1"/>
          </p:cNvSpPr>
          <p:nvPr/>
        </p:nvSpPr>
        <p:spPr bwMode="auto">
          <a:xfrm>
            <a:off x="3712192" y="5280132"/>
            <a:ext cx="3907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</a:t>
            </a:r>
          </a:p>
        </p:txBody>
      </p:sp>
      <p:sp>
        <p:nvSpPr>
          <p:cNvPr id="249883" name="Text Box 27"/>
          <p:cNvSpPr txBox="1">
            <a:spLocks noChangeArrowheads="1"/>
          </p:cNvSpPr>
          <p:nvPr/>
        </p:nvSpPr>
        <p:spPr bwMode="auto">
          <a:xfrm>
            <a:off x="3696561" y="3848207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●</a:t>
            </a:r>
          </a:p>
        </p:txBody>
      </p:sp>
      <p:sp>
        <p:nvSpPr>
          <p:cNvPr id="249884" name="Text Box 28"/>
          <p:cNvSpPr txBox="1">
            <a:spLocks noChangeArrowheads="1"/>
          </p:cNvSpPr>
          <p:nvPr/>
        </p:nvSpPr>
        <p:spPr bwMode="auto">
          <a:xfrm>
            <a:off x="3772675" y="4453353"/>
            <a:ext cx="2696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º</a:t>
            </a:r>
          </a:p>
        </p:txBody>
      </p:sp>
      <p:sp>
        <p:nvSpPr>
          <p:cNvPr id="249885" name="Line 29"/>
          <p:cNvSpPr>
            <a:spLocks noChangeShapeType="1"/>
          </p:cNvSpPr>
          <p:nvPr/>
        </p:nvSpPr>
        <p:spPr bwMode="auto">
          <a:xfrm>
            <a:off x="3899761" y="4083156"/>
            <a:ext cx="0" cy="1282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86" name="Line 30"/>
          <p:cNvSpPr>
            <a:spLocks noChangeShapeType="1"/>
          </p:cNvSpPr>
          <p:nvPr/>
        </p:nvSpPr>
        <p:spPr bwMode="auto">
          <a:xfrm flipH="1">
            <a:off x="2868130" y="4057756"/>
            <a:ext cx="1031631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87" name="Text Box 31"/>
          <p:cNvSpPr txBox="1">
            <a:spLocks noChangeArrowheads="1"/>
          </p:cNvSpPr>
          <p:nvPr/>
        </p:nvSpPr>
        <p:spPr bwMode="auto">
          <a:xfrm>
            <a:off x="2246808" y="3841857"/>
            <a:ext cx="5309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f(a)</a:t>
            </a:r>
          </a:p>
        </p:txBody>
      </p:sp>
      <p:sp>
        <p:nvSpPr>
          <p:cNvPr id="249888" name="Text Box 32"/>
          <p:cNvSpPr txBox="1">
            <a:spLocks noChangeArrowheads="1"/>
          </p:cNvSpPr>
          <p:nvPr/>
        </p:nvSpPr>
        <p:spPr bwMode="auto">
          <a:xfrm>
            <a:off x="6224839" y="4000607"/>
            <a:ext cx="9797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f(a) </a:t>
            </a:r>
            <a:r>
              <a:rPr lang="en-US" sz="1800" dirty="0" err="1">
                <a:latin typeface="+mn-lt"/>
              </a:rPr>
              <a:t>ada</a:t>
            </a:r>
            <a:endParaRPr lang="en-US" sz="1800" dirty="0">
              <a:latin typeface="+mn-lt"/>
            </a:endParaRPr>
          </a:p>
        </p:txBody>
      </p:sp>
      <p:sp>
        <p:nvSpPr>
          <p:cNvPr id="4127" name="Rectangle 34"/>
          <p:cNvSpPr>
            <a:spLocks noChangeArrowheads="1"/>
          </p:cNvSpPr>
          <p:nvPr/>
        </p:nvSpPr>
        <p:spPr bwMode="auto">
          <a:xfrm>
            <a:off x="54592" y="374767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498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363795"/>
              </p:ext>
            </p:extLst>
          </p:nvPr>
        </p:nvGraphicFramePr>
        <p:xfrm>
          <a:off x="6283454" y="4497494"/>
          <a:ext cx="12192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7" imgW="558800" imgH="279400" progId="Equation.3">
                  <p:embed/>
                </p:oleObj>
              </mc:Choice>
              <mc:Fallback>
                <p:oleObj name="Equation" r:id="rId7" imgW="5588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454" y="4497494"/>
                        <a:ext cx="12192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91" name="Line 35"/>
          <p:cNvSpPr>
            <a:spLocks noChangeShapeType="1"/>
          </p:cNvSpPr>
          <p:nvPr/>
        </p:nvSpPr>
        <p:spPr bwMode="auto">
          <a:xfrm>
            <a:off x="3149484" y="5518256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92" name="Line 36"/>
          <p:cNvSpPr>
            <a:spLocks noChangeShapeType="1"/>
          </p:cNvSpPr>
          <p:nvPr/>
        </p:nvSpPr>
        <p:spPr bwMode="auto">
          <a:xfrm flipH="1">
            <a:off x="4556253" y="5518256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93" name="Line 37"/>
          <p:cNvSpPr>
            <a:spLocks noChangeShapeType="1"/>
          </p:cNvSpPr>
          <p:nvPr/>
        </p:nvSpPr>
        <p:spPr bwMode="auto">
          <a:xfrm flipH="1">
            <a:off x="2868130" y="4603856"/>
            <a:ext cx="1031631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94" name="Text Box 38"/>
          <p:cNvSpPr txBox="1">
            <a:spLocks noChangeArrowheads="1"/>
          </p:cNvSpPr>
          <p:nvPr/>
        </p:nvSpPr>
        <p:spPr bwMode="auto">
          <a:xfrm>
            <a:off x="2567238" y="43816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L</a:t>
            </a:r>
          </a:p>
        </p:txBody>
      </p:sp>
      <p:sp>
        <p:nvSpPr>
          <p:cNvPr id="249898" name="Line 42"/>
          <p:cNvSpPr>
            <a:spLocks noChangeShapeType="1"/>
          </p:cNvSpPr>
          <p:nvPr/>
        </p:nvSpPr>
        <p:spPr bwMode="auto">
          <a:xfrm>
            <a:off x="2727454" y="4270481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899" name="Line 43"/>
          <p:cNvSpPr>
            <a:spLocks noChangeShapeType="1"/>
          </p:cNvSpPr>
          <p:nvPr/>
        </p:nvSpPr>
        <p:spPr bwMode="auto">
          <a:xfrm flipH="1" flipV="1">
            <a:off x="2723547" y="4756256"/>
            <a:ext cx="19538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900" name="Text Box 44"/>
          <p:cNvSpPr txBox="1">
            <a:spLocks noChangeArrowheads="1"/>
          </p:cNvSpPr>
          <p:nvPr/>
        </p:nvSpPr>
        <p:spPr bwMode="auto">
          <a:xfrm>
            <a:off x="7572992" y="4473682"/>
            <a:ext cx="56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ada</a:t>
            </a:r>
          </a:p>
        </p:txBody>
      </p:sp>
      <p:sp>
        <p:nvSpPr>
          <p:cNvPr id="249901" name="Text Box 45"/>
          <p:cNvSpPr txBox="1">
            <a:spLocks noChangeArrowheads="1"/>
          </p:cNvSpPr>
          <p:nvPr/>
        </p:nvSpPr>
        <p:spPr bwMode="auto">
          <a:xfrm>
            <a:off x="6131054" y="5143607"/>
            <a:ext cx="5537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 err="1">
                <a:latin typeface="+mn-lt"/>
              </a:rPr>
              <a:t>Tapi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nilai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fungsi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tidak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sama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dengan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limit </a:t>
            </a:r>
            <a:r>
              <a:rPr lang="en-US" sz="1800" dirty="0" err="1">
                <a:latin typeface="+mn-lt"/>
              </a:rPr>
              <a:t>fungsi</a:t>
            </a:r>
            <a:endParaRPr lang="en-US" sz="1800" dirty="0">
              <a:latin typeface="+mn-lt"/>
            </a:endParaRPr>
          </a:p>
        </p:txBody>
      </p:sp>
      <p:sp>
        <p:nvSpPr>
          <p:cNvPr id="249902" name="AutoShape 46"/>
          <p:cNvSpPr>
            <a:spLocks noChangeArrowheads="1"/>
          </p:cNvSpPr>
          <p:nvPr/>
        </p:nvSpPr>
        <p:spPr bwMode="auto">
          <a:xfrm>
            <a:off x="7993329" y="5513465"/>
            <a:ext cx="366960" cy="437198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49903" name="Text Box 47"/>
          <p:cNvSpPr txBox="1">
            <a:spLocks noChangeArrowheads="1"/>
          </p:cNvSpPr>
          <p:nvPr/>
        </p:nvSpPr>
        <p:spPr bwMode="auto">
          <a:xfrm>
            <a:off x="6195791" y="6047978"/>
            <a:ext cx="33201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Fungsi f(x) tidak kontinu di x=a</a:t>
            </a:r>
          </a:p>
        </p:txBody>
      </p:sp>
    </p:spTree>
    <p:extLst>
      <p:ext uri="{BB962C8B-B14F-4D97-AF65-F5344CB8AC3E}">
        <p14:creationId xmlns:p14="http://schemas.microsoft.com/office/powerpoint/2010/main" val="31867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4017E-6 4.04624E-6 L 0.03943 -0.0046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2" y="-231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20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39 -0.00462 L -0.03847 4.04624E-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3" y="23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20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4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4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24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24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4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24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24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24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24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9" dur="2000"/>
                                        <p:tgtEl>
                                          <p:spTgt spid="24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2" dur="2000"/>
                                        <p:tgtEl>
                                          <p:spTgt spid="24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2000"/>
                                        <p:tgtEl>
                                          <p:spTgt spid="24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0" dur="2000"/>
                                        <p:tgtEl>
                                          <p:spTgt spid="24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3" dur="2000"/>
                                        <p:tgtEl>
                                          <p:spTgt spid="24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6" dur="2000"/>
                                        <p:tgtEl>
                                          <p:spTgt spid="2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9" dur="2000"/>
                                        <p:tgtEl>
                                          <p:spTgt spid="24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3" dur="2000"/>
                                        <p:tgtEl>
                                          <p:spTgt spid="24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02 9.82659E-7 L 0.03366 9.82659E-7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2498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1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0" dur="2000"/>
                                        <p:tgtEl>
                                          <p:spTgt spid="24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22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21 0.03098 L -0.00321 -0.00231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498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2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7" dur="2000"/>
                                        <p:tgtEl>
                                          <p:spTgt spid="24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2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02 9.82659E-7 L -0.05194 9.82659E-7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498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3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4" dur="2000"/>
                                        <p:tgtEl>
                                          <p:spTgt spid="24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3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2312E-6 3.75723E-6 L -4.12312E-6 0.04208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2498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3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1" dur="2000"/>
                                        <p:tgtEl>
                                          <p:spTgt spid="24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4" dur="2000"/>
                                        <p:tgtEl>
                                          <p:spTgt spid="24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9" dur="2000"/>
                                        <p:tgtEl>
                                          <p:spTgt spid="24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4" dur="2000"/>
                                        <p:tgtEl>
                                          <p:spTgt spid="24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9" dur="2000"/>
                                        <p:tgtEl>
                                          <p:spTgt spid="24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 animBg="1"/>
      <p:bldP spid="249861" grpId="0" animBg="1"/>
      <p:bldP spid="249862" grpId="0"/>
      <p:bldP spid="249863" grpId="0" animBg="1"/>
      <p:bldP spid="249864" grpId="0" animBg="1"/>
      <p:bldP spid="249865" grpId="0"/>
      <p:bldP spid="249866" grpId="0" animBg="1"/>
      <p:bldP spid="249866" grpId="1" animBg="1"/>
      <p:bldP spid="249867" grpId="0" animBg="1"/>
      <p:bldP spid="249867" grpId="1" animBg="1"/>
      <p:bldP spid="249868" grpId="0" animBg="1"/>
      <p:bldP spid="249874" grpId="0" animBg="1"/>
      <p:bldP spid="249875" grpId="0"/>
      <p:bldP spid="249876" grpId="0" animBg="1"/>
      <p:bldP spid="249877" grpId="0"/>
      <p:bldP spid="249878" grpId="0"/>
      <p:bldP spid="249879" grpId="0" animBg="1"/>
      <p:bldP spid="249880" grpId="0" animBg="1"/>
      <p:bldP spid="249881" grpId="0" animBg="1"/>
      <p:bldP spid="249882" grpId="0"/>
      <p:bldP spid="249883" grpId="0"/>
      <p:bldP spid="249884" grpId="0"/>
      <p:bldP spid="249885" grpId="0" animBg="1"/>
      <p:bldP spid="249886" grpId="0" animBg="1"/>
      <p:bldP spid="249887" grpId="0"/>
      <p:bldP spid="249888" grpId="0"/>
      <p:bldP spid="249891" grpId="0" animBg="1"/>
      <p:bldP spid="249891" grpId="1" animBg="1"/>
      <p:bldP spid="249892" grpId="0" animBg="1"/>
      <p:bldP spid="249892" grpId="1" animBg="1"/>
      <p:bldP spid="249893" grpId="0" animBg="1"/>
      <p:bldP spid="249894" grpId="0"/>
      <p:bldP spid="249898" grpId="0" animBg="1"/>
      <p:bldP spid="249898" grpId="1" animBg="1"/>
      <p:bldP spid="249899" grpId="0" animBg="1"/>
      <p:bldP spid="249899" grpId="1" animBg="1"/>
      <p:bldP spid="249900" grpId="0"/>
      <p:bldP spid="249901" grpId="0"/>
      <p:bldP spid="249902" grpId="0" animBg="1"/>
      <p:bldP spid="24990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478941" y="6492875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03578EDC-3EC7-411B-8552-547FD859D694}" type="slidenum">
              <a:rPr lang="en-US" sz="1200" smtClean="0">
                <a:latin typeface="+mn-lt"/>
              </a:rPr>
              <a:pPr/>
              <a:t>2</a:t>
            </a:fld>
            <a:endParaRPr lang="en-US" sz="1200" dirty="0" smtClean="0">
              <a:latin typeface="+mn-lt"/>
            </a:endParaRPr>
          </a:p>
        </p:txBody>
      </p:sp>
      <p:sp>
        <p:nvSpPr>
          <p:cNvPr id="250884" name="Text Box 4"/>
          <p:cNvSpPr txBox="1">
            <a:spLocks noChangeArrowheads="1"/>
          </p:cNvSpPr>
          <p:nvPr/>
        </p:nvSpPr>
        <p:spPr bwMode="auto">
          <a:xfrm>
            <a:off x="1133174" y="1671391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(iv)</a:t>
            </a:r>
          </a:p>
        </p:txBody>
      </p:sp>
      <p:sp>
        <p:nvSpPr>
          <p:cNvPr id="250885" name="Line 5"/>
          <p:cNvSpPr>
            <a:spLocks noChangeShapeType="1"/>
          </p:cNvSpPr>
          <p:nvPr/>
        </p:nvSpPr>
        <p:spPr bwMode="auto">
          <a:xfrm>
            <a:off x="3403542" y="181744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886" name="Line 6"/>
          <p:cNvSpPr>
            <a:spLocks noChangeShapeType="1"/>
          </p:cNvSpPr>
          <p:nvPr/>
        </p:nvSpPr>
        <p:spPr bwMode="auto">
          <a:xfrm>
            <a:off x="1902988" y="3189040"/>
            <a:ext cx="38451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887" name="Freeform 7"/>
          <p:cNvSpPr>
            <a:spLocks/>
          </p:cNvSpPr>
          <p:nvPr/>
        </p:nvSpPr>
        <p:spPr bwMode="auto">
          <a:xfrm>
            <a:off x="3152642" y="2275112"/>
            <a:ext cx="2858330" cy="369332"/>
          </a:xfrm>
          <a:custGeom>
            <a:avLst/>
            <a:gdLst>
              <a:gd name="T0" fmla="*/ 0 w 1200"/>
              <a:gd name="T1" fmla="*/ 2147483647 h 192"/>
              <a:gd name="T2" fmla="*/ 2147483647 w 1200"/>
              <a:gd name="T3" fmla="*/ 2147483647 h 192"/>
              <a:gd name="T4" fmla="*/ 2147483647 w 1200"/>
              <a:gd name="T5" fmla="*/ 2147483647 h 192"/>
              <a:gd name="T6" fmla="*/ 2147483647 w 1200"/>
              <a:gd name="T7" fmla="*/ 2147483647 h 192"/>
              <a:gd name="T8" fmla="*/ 2147483647 w 1200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92"/>
              <a:gd name="T17" fmla="*/ 1200 w 1200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92">
                <a:moveTo>
                  <a:pt x="0" y="144"/>
                </a:moveTo>
                <a:cubicBezTo>
                  <a:pt x="76" y="92"/>
                  <a:pt x="152" y="40"/>
                  <a:pt x="240" y="48"/>
                </a:cubicBezTo>
                <a:cubicBezTo>
                  <a:pt x="328" y="56"/>
                  <a:pt x="408" y="192"/>
                  <a:pt x="528" y="192"/>
                </a:cubicBezTo>
                <a:cubicBezTo>
                  <a:pt x="648" y="192"/>
                  <a:pt x="848" y="80"/>
                  <a:pt x="960" y="48"/>
                </a:cubicBezTo>
                <a:cubicBezTo>
                  <a:pt x="1072" y="16"/>
                  <a:pt x="1136" y="8"/>
                  <a:pt x="120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888" name="Text Box 8"/>
          <p:cNvSpPr txBox="1">
            <a:spLocks noChangeArrowheads="1"/>
          </p:cNvSpPr>
          <p:nvPr/>
        </p:nvSpPr>
        <p:spPr bwMode="auto">
          <a:xfrm>
            <a:off x="4286681" y="308744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</a:t>
            </a:r>
          </a:p>
        </p:txBody>
      </p:sp>
      <p:sp>
        <p:nvSpPr>
          <p:cNvPr id="250889" name="Line 9"/>
          <p:cNvSpPr>
            <a:spLocks noChangeShapeType="1"/>
          </p:cNvSpPr>
          <p:nvPr/>
        </p:nvSpPr>
        <p:spPr bwMode="auto">
          <a:xfrm>
            <a:off x="4474250" y="267151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890" name="Line 10"/>
          <p:cNvSpPr>
            <a:spLocks noChangeShapeType="1"/>
          </p:cNvSpPr>
          <p:nvPr/>
        </p:nvSpPr>
        <p:spPr bwMode="auto">
          <a:xfrm flipH="1">
            <a:off x="3403542" y="2655640"/>
            <a:ext cx="1031631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891" name="Text Box 11"/>
          <p:cNvSpPr txBox="1">
            <a:spLocks noChangeArrowheads="1"/>
          </p:cNvSpPr>
          <p:nvPr/>
        </p:nvSpPr>
        <p:spPr bwMode="auto">
          <a:xfrm>
            <a:off x="2835580" y="2438466"/>
            <a:ext cx="5309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f(a)</a:t>
            </a:r>
          </a:p>
        </p:txBody>
      </p:sp>
      <p:sp>
        <p:nvSpPr>
          <p:cNvPr id="250892" name="Text Box 12"/>
          <p:cNvSpPr txBox="1">
            <a:spLocks noChangeArrowheads="1"/>
          </p:cNvSpPr>
          <p:nvPr/>
        </p:nvSpPr>
        <p:spPr bwMode="auto">
          <a:xfrm>
            <a:off x="6404651" y="1426916"/>
            <a:ext cx="9797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f(a) ada</a:t>
            </a:r>
          </a:p>
        </p:txBody>
      </p:sp>
      <p:sp>
        <p:nvSpPr>
          <p:cNvPr id="5132" name="Rectangle 14"/>
          <p:cNvSpPr>
            <a:spLocks noChangeArrowheads="1"/>
          </p:cNvSpPr>
          <p:nvPr/>
        </p:nvSpPr>
        <p:spPr bwMode="auto">
          <a:xfrm>
            <a:off x="27296" y="38568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08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830186"/>
              </p:ext>
            </p:extLst>
          </p:nvPr>
        </p:nvGraphicFramePr>
        <p:xfrm>
          <a:off x="6498435" y="1992065"/>
          <a:ext cx="112541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3" imgW="558800" imgH="279400" progId="Equation.3">
                  <p:embed/>
                </p:oleObj>
              </mc:Choice>
              <mc:Fallback>
                <p:oleObj name="Equation" r:id="rId3" imgW="5588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435" y="1992065"/>
                        <a:ext cx="112541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5" name="Text Box 15"/>
          <p:cNvSpPr txBox="1">
            <a:spLocks noChangeArrowheads="1"/>
          </p:cNvSpPr>
          <p:nvPr/>
        </p:nvSpPr>
        <p:spPr bwMode="auto">
          <a:xfrm>
            <a:off x="7717634" y="1953966"/>
            <a:ext cx="56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ada</a:t>
            </a:r>
          </a:p>
        </p:txBody>
      </p:sp>
      <p:sp>
        <p:nvSpPr>
          <p:cNvPr id="5135" name="Rectangle 17"/>
          <p:cNvSpPr>
            <a:spLocks noChangeArrowheads="1"/>
          </p:cNvSpPr>
          <p:nvPr/>
        </p:nvSpPr>
        <p:spPr bwMode="auto">
          <a:xfrm>
            <a:off x="27296" y="38568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08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56028"/>
              </p:ext>
            </p:extLst>
          </p:nvPr>
        </p:nvGraphicFramePr>
        <p:xfrm>
          <a:off x="6498434" y="2563566"/>
          <a:ext cx="20632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5" imgW="1016000" imgH="279400" progId="Equation.3">
                  <p:embed/>
                </p:oleObj>
              </mc:Choice>
              <mc:Fallback>
                <p:oleObj name="Equation" r:id="rId5" imgW="1016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434" y="2563566"/>
                        <a:ext cx="20632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8" name="AutoShape 18"/>
          <p:cNvSpPr>
            <a:spLocks noChangeArrowheads="1"/>
          </p:cNvSpPr>
          <p:nvPr/>
        </p:nvSpPr>
        <p:spPr bwMode="auto">
          <a:xfrm>
            <a:off x="7061142" y="3157568"/>
            <a:ext cx="366960" cy="412194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899" name="Text Box 19"/>
          <p:cNvSpPr txBox="1">
            <a:spLocks noChangeArrowheads="1"/>
          </p:cNvSpPr>
          <p:nvPr/>
        </p:nvSpPr>
        <p:spPr bwMode="auto">
          <a:xfrm>
            <a:off x="6432004" y="3630366"/>
            <a:ext cx="36302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f(x) kontinu di x=a</a:t>
            </a:r>
          </a:p>
        </p:txBody>
      </p:sp>
      <p:sp>
        <p:nvSpPr>
          <p:cNvPr id="250900" name="Line 20"/>
          <p:cNvSpPr>
            <a:spLocks noChangeShapeType="1"/>
          </p:cNvSpPr>
          <p:nvPr/>
        </p:nvSpPr>
        <p:spPr bwMode="auto">
          <a:xfrm>
            <a:off x="3684896" y="3341440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901" name="Line 21"/>
          <p:cNvSpPr>
            <a:spLocks noChangeShapeType="1"/>
          </p:cNvSpPr>
          <p:nvPr/>
        </p:nvSpPr>
        <p:spPr bwMode="auto">
          <a:xfrm flipH="1">
            <a:off x="4997881" y="3341441"/>
            <a:ext cx="281354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902" name="Line 22"/>
          <p:cNvSpPr>
            <a:spLocks noChangeShapeType="1"/>
          </p:cNvSpPr>
          <p:nvPr/>
        </p:nvSpPr>
        <p:spPr bwMode="auto">
          <a:xfrm>
            <a:off x="3309758" y="212224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905" name="Line 25"/>
          <p:cNvSpPr>
            <a:spLocks noChangeShapeType="1"/>
          </p:cNvSpPr>
          <p:nvPr/>
        </p:nvSpPr>
        <p:spPr bwMode="auto">
          <a:xfrm flipV="1">
            <a:off x="3255050" y="294456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906" name="Text Box 26"/>
          <p:cNvSpPr txBox="1">
            <a:spLocks noChangeArrowheads="1"/>
          </p:cNvSpPr>
          <p:nvPr/>
        </p:nvSpPr>
        <p:spPr bwMode="auto">
          <a:xfrm>
            <a:off x="6310865" y="4338390"/>
            <a:ext cx="367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Ketakkontinuan yang terhapuskan</a:t>
            </a:r>
          </a:p>
        </p:txBody>
      </p:sp>
      <p:sp>
        <p:nvSpPr>
          <p:cNvPr id="250907" name="Text Box 27"/>
          <p:cNvSpPr txBox="1">
            <a:spLocks noChangeArrowheads="1"/>
          </p:cNvSpPr>
          <p:nvPr/>
        </p:nvSpPr>
        <p:spPr bwMode="auto">
          <a:xfrm>
            <a:off x="6385112" y="4795591"/>
            <a:ext cx="422423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Ketakkontinuan kasus (i) bisa dihapus</a:t>
            </a:r>
          </a:p>
          <a:p>
            <a:r>
              <a:rPr lang="en-US" sz="1800">
                <a:latin typeface="+mn-lt"/>
              </a:rPr>
              <a:t>dengan cara mendefinisikan nilai fungsi</a:t>
            </a:r>
          </a:p>
          <a:p>
            <a:r>
              <a:rPr lang="en-US" sz="1800">
                <a:latin typeface="+mn-lt"/>
              </a:rPr>
              <a:t>dititik tersebut = limit fungsi</a:t>
            </a:r>
          </a:p>
        </p:txBody>
      </p:sp>
      <p:sp>
        <p:nvSpPr>
          <p:cNvPr id="250908" name="Line 28"/>
          <p:cNvSpPr>
            <a:spLocks noChangeShapeType="1"/>
          </p:cNvSpPr>
          <p:nvPr/>
        </p:nvSpPr>
        <p:spPr bwMode="auto">
          <a:xfrm>
            <a:off x="3403542" y="425584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909" name="Line 29"/>
          <p:cNvSpPr>
            <a:spLocks noChangeShapeType="1"/>
          </p:cNvSpPr>
          <p:nvPr/>
        </p:nvSpPr>
        <p:spPr bwMode="auto">
          <a:xfrm>
            <a:off x="1996773" y="5475040"/>
            <a:ext cx="37513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910" name="Text Box 30"/>
          <p:cNvSpPr txBox="1">
            <a:spLocks noChangeArrowheads="1"/>
          </p:cNvSpPr>
          <p:nvPr/>
        </p:nvSpPr>
        <p:spPr bwMode="auto">
          <a:xfrm>
            <a:off x="4157727" y="5341691"/>
            <a:ext cx="3907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</a:t>
            </a:r>
          </a:p>
        </p:txBody>
      </p:sp>
      <p:sp>
        <p:nvSpPr>
          <p:cNvPr id="250911" name="Freeform 31"/>
          <p:cNvSpPr>
            <a:spLocks/>
          </p:cNvSpPr>
          <p:nvPr/>
        </p:nvSpPr>
        <p:spPr bwMode="auto">
          <a:xfrm>
            <a:off x="3122188" y="4789240"/>
            <a:ext cx="2438400" cy="369332"/>
          </a:xfrm>
          <a:custGeom>
            <a:avLst/>
            <a:gdLst>
              <a:gd name="T0" fmla="*/ 0 w 1248"/>
              <a:gd name="T1" fmla="*/ 2147483647 h 288"/>
              <a:gd name="T2" fmla="*/ 2147483647 w 1248"/>
              <a:gd name="T3" fmla="*/ 2147483647 h 288"/>
              <a:gd name="T4" fmla="*/ 2147483647 w 1248"/>
              <a:gd name="T5" fmla="*/ 2147483647 h 288"/>
              <a:gd name="T6" fmla="*/ 2147483647 w 1248"/>
              <a:gd name="T7" fmla="*/ 2147483647 h 288"/>
              <a:gd name="T8" fmla="*/ 2147483647 w 1248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288"/>
              <a:gd name="T17" fmla="*/ 1248 w 1248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288">
                <a:moveTo>
                  <a:pt x="0" y="288"/>
                </a:moveTo>
                <a:cubicBezTo>
                  <a:pt x="100" y="260"/>
                  <a:pt x="200" y="232"/>
                  <a:pt x="288" y="192"/>
                </a:cubicBezTo>
                <a:cubicBezTo>
                  <a:pt x="376" y="152"/>
                  <a:pt x="424" y="56"/>
                  <a:pt x="528" y="48"/>
                </a:cubicBezTo>
                <a:cubicBezTo>
                  <a:pt x="632" y="40"/>
                  <a:pt x="792" y="152"/>
                  <a:pt x="912" y="144"/>
                </a:cubicBezTo>
                <a:cubicBezTo>
                  <a:pt x="1032" y="136"/>
                  <a:pt x="1140" y="68"/>
                  <a:pt x="124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912" name="Text Box 32"/>
          <p:cNvSpPr txBox="1">
            <a:spLocks noChangeArrowheads="1"/>
          </p:cNvSpPr>
          <p:nvPr/>
        </p:nvSpPr>
        <p:spPr bwMode="auto">
          <a:xfrm>
            <a:off x="4169450" y="4706691"/>
            <a:ext cx="2696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º</a:t>
            </a:r>
          </a:p>
        </p:txBody>
      </p:sp>
      <p:sp>
        <p:nvSpPr>
          <p:cNvPr id="250913" name="Line 33"/>
          <p:cNvSpPr>
            <a:spLocks noChangeShapeType="1"/>
          </p:cNvSpPr>
          <p:nvPr/>
        </p:nvSpPr>
        <p:spPr bwMode="auto">
          <a:xfrm>
            <a:off x="4341388" y="486544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0914" name="Line 34"/>
          <p:cNvSpPr>
            <a:spLocks noChangeShapeType="1"/>
          </p:cNvSpPr>
          <p:nvPr/>
        </p:nvSpPr>
        <p:spPr bwMode="auto">
          <a:xfrm flipH="1">
            <a:off x="3403542" y="4865440"/>
            <a:ext cx="9378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d-ID" sz="1800">
              <a:latin typeface="+mn-lt"/>
            </a:endParaRPr>
          </a:p>
        </p:txBody>
      </p:sp>
      <p:pic>
        <p:nvPicPr>
          <p:cNvPr id="250915" name="Picture 35" descr="gambar-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065" y="4233615"/>
            <a:ext cx="3798277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897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5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" dur="2000"/>
                                        <p:tgtEl>
                                          <p:spTgt spid="25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5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5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62 -1.04046E-6 L 0.0327 -1.04046E-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5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6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5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54 2.89017E-6 L -0.03848 -0.0011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509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1" y="-69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5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119E-6 -0.00694 L 2.91119E-6 0.04855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5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25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2934E-6 0.00693 L 0.0032 -0.0351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" y="-21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5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50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5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5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25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25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25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25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2000"/>
                                        <p:tgtEl>
                                          <p:spTgt spid="25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9" dur="2000"/>
                                        <p:tgtEl>
                                          <p:spTgt spid="25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2" dur="2000"/>
                                        <p:tgtEl>
                                          <p:spTgt spid="2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5" dur="2000"/>
                                        <p:tgtEl>
                                          <p:spTgt spid="25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8" dur="2000"/>
                                        <p:tgtEl>
                                          <p:spTgt spid="25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3" dur="2000"/>
                                        <p:tgtEl>
                                          <p:spTgt spid="25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8" dur="2000"/>
                                        <p:tgtEl>
                                          <p:spTgt spid="25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4" grpId="0"/>
      <p:bldP spid="250885" grpId="0" animBg="1"/>
      <p:bldP spid="250886" grpId="0" animBg="1"/>
      <p:bldP spid="250887" grpId="0" animBg="1"/>
      <p:bldP spid="250888" grpId="0"/>
      <p:bldP spid="250889" grpId="0" animBg="1"/>
      <p:bldP spid="250890" grpId="0" animBg="1"/>
      <p:bldP spid="250891" grpId="0"/>
      <p:bldP spid="250892" grpId="0"/>
      <p:bldP spid="250895" grpId="0"/>
      <p:bldP spid="250898" grpId="0" animBg="1"/>
      <p:bldP spid="250899" grpId="0"/>
      <p:bldP spid="250900" grpId="0" animBg="1"/>
      <p:bldP spid="250900" grpId="1" animBg="1"/>
      <p:bldP spid="250901" grpId="0" animBg="1"/>
      <p:bldP spid="250901" grpId="1" animBg="1"/>
      <p:bldP spid="250902" grpId="0" animBg="1"/>
      <p:bldP spid="250902" grpId="1" animBg="1"/>
      <p:bldP spid="250905" grpId="0" animBg="1"/>
      <p:bldP spid="250905" grpId="1" animBg="1"/>
      <p:bldP spid="250906" grpId="0"/>
      <p:bldP spid="250907" grpId="0"/>
      <p:bldP spid="250908" grpId="0" animBg="1"/>
      <p:bldP spid="250909" grpId="0" animBg="1"/>
      <p:bldP spid="250910" grpId="0"/>
      <p:bldP spid="250911" grpId="0" animBg="1"/>
      <p:bldP spid="250912" grpId="0"/>
      <p:bldP spid="250913" grpId="0" animBg="1"/>
      <p:bldP spid="2509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437997" y="6492875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4E44D7F0-E82F-4349-BECA-85C962BDADA4}" type="slidenum">
              <a:rPr lang="en-US" sz="1200" smtClean="0">
                <a:latin typeface="+mn-lt"/>
              </a:rPr>
              <a:pPr/>
              <a:t>3</a:t>
            </a:fld>
            <a:endParaRPr lang="en-US" sz="1200" dirty="0" smtClean="0">
              <a:latin typeface="+mn-lt"/>
            </a:endParaRPr>
          </a:p>
        </p:txBody>
      </p:sp>
      <p:sp>
        <p:nvSpPr>
          <p:cNvPr id="251908" name="Text Box 4"/>
          <p:cNvSpPr txBox="1">
            <a:spLocks noChangeArrowheads="1"/>
          </p:cNvSpPr>
          <p:nvPr/>
        </p:nvSpPr>
        <p:spPr bwMode="auto">
          <a:xfrm>
            <a:off x="1322493" y="1265366"/>
            <a:ext cx="9925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Contoh:</a:t>
            </a:r>
          </a:p>
        </p:txBody>
      </p:sp>
      <p:sp>
        <p:nvSpPr>
          <p:cNvPr id="251909" name="Text Box 5"/>
          <p:cNvSpPr txBox="1">
            <a:spLocks noChangeArrowheads="1"/>
          </p:cNvSpPr>
          <p:nvPr/>
        </p:nvSpPr>
        <p:spPr bwMode="auto">
          <a:xfrm>
            <a:off x="1293445" y="1695271"/>
            <a:ext cx="92562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 err="1">
                <a:latin typeface="+mn-lt"/>
              </a:rPr>
              <a:t>Periksa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apakah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fungsi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berikut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kontinu</a:t>
            </a:r>
            <a:r>
              <a:rPr lang="en-US" sz="1800" dirty="0">
                <a:latin typeface="+mn-lt"/>
              </a:rPr>
              <a:t> di x=2, </a:t>
            </a:r>
            <a:r>
              <a:rPr lang="en-US" sz="1800" dirty="0" err="1">
                <a:latin typeface="+mn-lt"/>
              </a:rPr>
              <a:t>jika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tidak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sebutkan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alasannya</a:t>
            </a:r>
            <a:endParaRPr lang="en-US" sz="1800" dirty="0">
              <a:latin typeface="+mn-lt"/>
            </a:endParaRPr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0" y="358070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19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544515"/>
              </p:ext>
            </p:extLst>
          </p:nvPr>
        </p:nvGraphicFramePr>
        <p:xfrm>
          <a:off x="2063262" y="2374720"/>
          <a:ext cx="187569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Equation" r:id="rId3" imgW="901309" imgH="418918" progId="Equation.3">
                  <p:embed/>
                </p:oleObj>
              </mc:Choice>
              <mc:Fallback>
                <p:oleObj name="Equation" r:id="rId3" imgW="90130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262" y="2374720"/>
                        <a:ext cx="1875692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9"/>
          <p:cNvSpPr>
            <a:spLocks noChangeArrowheads="1"/>
          </p:cNvSpPr>
          <p:nvPr/>
        </p:nvSpPr>
        <p:spPr bwMode="auto">
          <a:xfrm>
            <a:off x="0" y="348545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19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48562"/>
              </p:ext>
            </p:extLst>
          </p:nvPr>
        </p:nvGraphicFramePr>
        <p:xfrm>
          <a:off x="4982307" y="2315983"/>
          <a:ext cx="253218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Equation" r:id="rId5" imgW="1371600" imgH="609600" progId="Equation.3">
                  <p:embed/>
                </p:oleObj>
              </mc:Choice>
              <mc:Fallback>
                <p:oleObj name="Equation" r:id="rId5" imgW="13716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2307" y="2315983"/>
                        <a:ext cx="253218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14" name="Text Box 10"/>
          <p:cNvSpPr txBox="1">
            <a:spLocks noChangeArrowheads="1"/>
          </p:cNvSpPr>
          <p:nvPr/>
        </p:nvSpPr>
        <p:spPr bwMode="auto">
          <a:xfrm>
            <a:off x="1668585" y="2527121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a.</a:t>
            </a:r>
          </a:p>
        </p:txBody>
      </p:sp>
      <p:sp>
        <p:nvSpPr>
          <p:cNvPr id="251915" name="Text Box 11"/>
          <p:cNvSpPr txBox="1">
            <a:spLocks noChangeArrowheads="1"/>
          </p:cNvSpPr>
          <p:nvPr/>
        </p:nvSpPr>
        <p:spPr bwMode="auto">
          <a:xfrm>
            <a:off x="4509477" y="2533471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b.</a:t>
            </a:r>
          </a:p>
        </p:txBody>
      </p:sp>
      <p:sp>
        <p:nvSpPr>
          <p:cNvPr id="6155" name="Rectangle 13"/>
          <p:cNvSpPr>
            <a:spLocks noChangeArrowheads="1"/>
          </p:cNvSpPr>
          <p:nvPr/>
        </p:nvSpPr>
        <p:spPr bwMode="auto">
          <a:xfrm>
            <a:off x="0" y="356165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19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633172"/>
              </p:ext>
            </p:extLst>
          </p:nvPr>
        </p:nvGraphicFramePr>
        <p:xfrm>
          <a:off x="8460154" y="2377896"/>
          <a:ext cx="2625969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Equation" r:id="rId7" imgW="1295400" imgH="457200" progId="Equation.3">
                  <p:embed/>
                </p:oleObj>
              </mc:Choice>
              <mc:Fallback>
                <p:oleObj name="Equation" r:id="rId7" imgW="1295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0154" y="2377896"/>
                        <a:ext cx="2625969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18" name="Text Box 14"/>
          <p:cNvSpPr txBox="1">
            <a:spLocks noChangeArrowheads="1"/>
          </p:cNvSpPr>
          <p:nvPr/>
        </p:nvSpPr>
        <p:spPr bwMode="auto">
          <a:xfrm>
            <a:off x="8045939" y="2533471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c.</a:t>
            </a:r>
          </a:p>
        </p:txBody>
      </p:sp>
      <p:sp>
        <p:nvSpPr>
          <p:cNvPr id="251919" name="Text Box 15"/>
          <p:cNvSpPr txBox="1">
            <a:spLocks noChangeArrowheads="1"/>
          </p:cNvSpPr>
          <p:nvPr/>
        </p:nvSpPr>
        <p:spPr bwMode="auto">
          <a:xfrm>
            <a:off x="1312985" y="3219271"/>
            <a:ext cx="9797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Jawab :</a:t>
            </a:r>
          </a:p>
        </p:txBody>
      </p:sp>
      <p:sp>
        <p:nvSpPr>
          <p:cNvPr id="251928" name="Text Box 24"/>
          <p:cNvSpPr txBox="1">
            <a:spLocks noChangeArrowheads="1"/>
          </p:cNvSpPr>
          <p:nvPr/>
        </p:nvSpPr>
        <p:spPr bwMode="auto">
          <a:xfrm>
            <a:off x="1574800" y="3676471"/>
            <a:ext cx="47179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a. Fungsi tidak terdefinisi di x=2 (bentuk 0/0)</a:t>
            </a:r>
          </a:p>
        </p:txBody>
      </p:sp>
      <p:sp>
        <p:nvSpPr>
          <p:cNvPr id="251929" name="AutoShape 25"/>
          <p:cNvSpPr>
            <a:spLocks noChangeArrowheads="1"/>
          </p:cNvSpPr>
          <p:nvPr/>
        </p:nvSpPr>
        <p:spPr bwMode="auto">
          <a:xfrm>
            <a:off x="6410566" y="3556341"/>
            <a:ext cx="293711" cy="733663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1930" name="Text Box 26"/>
          <p:cNvSpPr txBox="1">
            <a:spLocks noChangeArrowheads="1"/>
          </p:cNvSpPr>
          <p:nvPr/>
        </p:nvSpPr>
        <p:spPr bwMode="auto">
          <a:xfrm>
            <a:off x="6929579" y="3608231"/>
            <a:ext cx="30332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f(x) </a:t>
            </a:r>
            <a:r>
              <a:rPr lang="en-US" sz="1800" dirty="0" err="1">
                <a:latin typeface="+mn-lt"/>
              </a:rPr>
              <a:t>tidak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di </a:t>
            </a:r>
            <a:r>
              <a:rPr lang="en-US" sz="1800" dirty="0">
                <a:latin typeface="+mn-lt"/>
              </a:rPr>
              <a:t>x=2</a:t>
            </a:r>
          </a:p>
        </p:txBody>
      </p:sp>
      <p:sp>
        <p:nvSpPr>
          <p:cNvPr id="251931" name="Text Box 27"/>
          <p:cNvSpPr txBox="1">
            <a:spLocks noChangeArrowheads="1"/>
          </p:cNvSpPr>
          <p:nvPr/>
        </p:nvSpPr>
        <p:spPr bwMode="auto">
          <a:xfrm>
            <a:off x="1574801" y="4362271"/>
            <a:ext cx="1511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b.  </a:t>
            </a:r>
            <a:r>
              <a:rPr lang="id-ID" sz="1800" dirty="0" smtClean="0">
                <a:latin typeface="+mn-lt"/>
              </a:rPr>
              <a:t>  </a:t>
            </a:r>
            <a:r>
              <a:rPr lang="en-US" sz="1800" dirty="0" smtClean="0">
                <a:latin typeface="+mn-lt"/>
              </a:rPr>
              <a:t>- </a:t>
            </a:r>
            <a:r>
              <a:rPr lang="en-US" sz="1800" dirty="0">
                <a:latin typeface="+mn-lt"/>
              </a:rPr>
              <a:t>f(2) = 3</a:t>
            </a:r>
          </a:p>
        </p:txBody>
      </p:sp>
      <p:sp>
        <p:nvSpPr>
          <p:cNvPr id="6163" name="Rectangle 29"/>
          <p:cNvSpPr>
            <a:spLocks noChangeArrowheads="1"/>
          </p:cNvSpPr>
          <p:nvPr/>
        </p:nvSpPr>
        <p:spPr bwMode="auto">
          <a:xfrm>
            <a:off x="0" y="356641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193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322069"/>
              </p:ext>
            </p:extLst>
          </p:nvPr>
        </p:nvGraphicFramePr>
        <p:xfrm>
          <a:off x="2198078" y="4736920"/>
          <a:ext cx="5840046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Equation" r:id="rId9" imgW="2781300" imgH="444500" progId="Equation.3">
                  <p:embed/>
                </p:oleObj>
              </mc:Choice>
              <mc:Fallback>
                <p:oleObj name="Equation" r:id="rId9" imgW="2781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078" y="4736920"/>
                        <a:ext cx="5840046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Rectangle 31"/>
          <p:cNvSpPr>
            <a:spLocks noChangeArrowheads="1"/>
          </p:cNvSpPr>
          <p:nvPr/>
        </p:nvSpPr>
        <p:spPr bwMode="auto">
          <a:xfrm>
            <a:off x="0" y="365214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193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43219"/>
              </p:ext>
            </p:extLst>
          </p:nvPr>
        </p:nvGraphicFramePr>
        <p:xfrm>
          <a:off x="2344616" y="5679016"/>
          <a:ext cx="234461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2" name="Equation" r:id="rId11" imgW="1016000" imgH="279400" progId="Equation.3">
                  <p:embed/>
                </p:oleObj>
              </mc:Choice>
              <mc:Fallback>
                <p:oleObj name="Equation" r:id="rId11" imgW="1016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616" y="5679016"/>
                        <a:ext cx="234461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36" name="Text Box 32"/>
          <p:cNvSpPr txBox="1">
            <a:spLocks noChangeArrowheads="1"/>
          </p:cNvSpPr>
          <p:nvPr/>
        </p:nvSpPr>
        <p:spPr bwMode="auto">
          <a:xfrm>
            <a:off x="2043724" y="4971871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-</a:t>
            </a:r>
          </a:p>
        </p:txBody>
      </p:sp>
      <p:sp>
        <p:nvSpPr>
          <p:cNvPr id="251937" name="Text Box 33"/>
          <p:cNvSpPr txBox="1">
            <a:spLocks noChangeArrowheads="1"/>
          </p:cNvSpPr>
          <p:nvPr/>
        </p:nvSpPr>
        <p:spPr bwMode="auto">
          <a:xfrm>
            <a:off x="2063262" y="5661553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-</a:t>
            </a:r>
          </a:p>
        </p:txBody>
      </p:sp>
      <p:sp>
        <p:nvSpPr>
          <p:cNvPr id="251938" name="AutoShape 34"/>
          <p:cNvSpPr>
            <a:spLocks noChangeArrowheads="1"/>
          </p:cNvSpPr>
          <p:nvPr/>
        </p:nvSpPr>
        <p:spPr bwMode="auto">
          <a:xfrm>
            <a:off x="4806809" y="5705747"/>
            <a:ext cx="468923" cy="433626"/>
          </a:xfrm>
          <a:prstGeom prst="downArrow">
            <a:avLst>
              <a:gd name="adj1" fmla="val 50000"/>
              <a:gd name="adj2" fmla="val 3075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scene3d>
            <a:camera prst="orthographicFront">
              <a:rot lat="0" lon="0" rev="5400000"/>
            </a:camera>
            <a:lightRig rig="threePt" dir="t"/>
          </a:scene3d>
        </p:spPr>
        <p:txBody>
          <a:bodyPr anchor="ctr">
            <a:spAutoFit/>
          </a:bodyPr>
          <a:lstStyle/>
          <a:p>
            <a:pPr>
              <a:defRPr/>
            </a:pPr>
            <a:endParaRPr lang="en-US" sz="1800">
              <a:latin typeface="+mn-lt"/>
            </a:endParaRPr>
          </a:p>
        </p:txBody>
      </p:sp>
      <p:sp>
        <p:nvSpPr>
          <p:cNvPr id="251939" name="Text Box 35"/>
          <p:cNvSpPr txBox="1">
            <a:spLocks noChangeArrowheads="1"/>
          </p:cNvSpPr>
          <p:nvPr/>
        </p:nvSpPr>
        <p:spPr bwMode="auto">
          <a:xfrm>
            <a:off x="5475459" y="5698065"/>
            <a:ext cx="40327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f(x) </a:t>
            </a:r>
            <a:r>
              <a:rPr lang="en-US" sz="1800" b="1" dirty="0" err="1">
                <a:latin typeface="+mn-lt"/>
              </a:rPr>
              <a:t>tidak</a:t>
            </a:r>
            <a:r>
              <a:rPr lang="en-US" sz="1800" b="1" dirty="0">
                <a:latin typeface="+mn-lt"/>
              </a:rPr>
              <a:t> </a:t>
            </a:r>
            <a:r>
              <a:rPr lang="en-US" sz="1800" b="1" dirty="0" err="1">
                <a:latin typeface="+mn-lt"/>
              </a:rPr>
              <a:t>kontinu</a:t>
            </a:r>
            <a:r>
              <a:rPr lang="en-US" sz="1800" b="1" dirty="0">
                <a:latin typeface="+mn-lt"/>
              </a:rPr>
              <a:t> di x=2</a:t>
            </a:r>
          </a:p>
        </p:txBody>
      </p:sp>
    </p:spTree>
    <p:extLst>
      <p:ext uri="{BB962C8B-B14F-4D97-AF65-F5344CB8AC3E}">
        <p14:creationId xmlns:p14="http://schemas.microsoft.com/office/powerpoint/2010/main" val="411904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5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5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5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5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5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5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5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25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5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5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5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2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2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8" grpId="0"/>
      <p:bldP spid="251909" grpId="0"/>
      <p:bldP spid="251914" grpId="0"/>
      <p:bldP spid="251915" grpId="0"/>
      <p:bldP spid="251918" grpId="0"/>
      <p:bldP spid="251919" grpId="0"/>
      <p:bldP spid="251928" grpId="0"/>
      <p:bldP spid="251929" grpId="0" animBg="1"/>
      <p:bldP spid="251930" grpId="0"/>
      <p:bldP spid="251931" grpId="0"/>
      <p:bldP spid="251936" grpId="0"/>
      <p:bldP spid="251937" grpId="0"/>
      <p:bldP spid="2519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547179" y="6492875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00C13DE2-3FE2-4C59-8739-B11924A4F18B}" type="slidenum">
              <a:rPr lang="en-US" sz="1200" smtClean="0">
                <a:latin typeface="+mn-lt"/>
              </a:rPr>
              <a:pPr/>
              <a:t>4</a:t>
            </a:fld>
            <a:endParaRPr lang="en-US" sz="1200" smtClean="0">
              <a:latin typeface="+mn-lt"/>
            </a:endParaRPr>
          </a:p>
        </p:txBody>
      </p:sp>
      <p:sp>
        <p:nvSpPr>
          <p:cNvPr id="262148" name="Text Box 4"/>
          <p:cNvSpPr txBox="1">
            <a:spLocks noChangeArrowheads="1"/>
          </p:cNvSpPr>
          <p:nvPr/>
        </p:nvSpPr>
        <p:spPr bwMode="auto">
          <a:xfrm>
            <a:off x="1180007" y="1392081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c. </a:t>
            </a:r>
          </a:p>
        </p:txBody>
      </p:sp>
      <p:sp>
        <p:nvSpPr>
          <p:cNvPr id="7172" name="Rectangle 6"/>
          <p:cNvSpPr>
            <a:spLocks noChangeArrowheads="1"/>
          </p:cNvSpPr>
          <p:nvPr/>
        </p:nvSpPr>
        <p:spPr bwMode="auto">
          <a:xfrm>
            <a:off x="54592" y="360771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62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271885"/>
              </p:ext>
            </p:extLst>
          </p:nvPr>
        </p:nvGraphicFramePr>
        <p:xfrm>
          <a:off x="2117853" y="1463519"/>
          <a:ext cx="2250831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3" imgW="1066800" imgH="228600" progId="Equation.3">
                  <p:embed/>
                </p:oleObj>
              </mc:Choice>
              <mc:Fallback>
                <p:oleObj name="Equation" r:id="rId3" imgW="106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853" y="1463519"/>
                        <a:ext cx="2250831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1" name="Text Box 7"/>
          <p:cNvSpPr txBox="1">
            <a:spLocks noChangeArrowheads="1"/>
          </p:cNvSpPr>
          <p:nvPr/>
        </p:nvSpPr>
        <p:spPr bwMode="auto">
          <a:xfrm>
            <a:off x="1816962" y="1452406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-</a:t>
            </a:r>
          </a:p>
        </p:txBody>
      </p:sp>
      <p:sp>
        <p:nvSpPr>
          <p:cNvPr id="262152" name="Text Box 8"/>
          <p:cNvSpPr txBox="1">
            <a:spLocks noChangeArrowheads="1"/>
          </p:cNvSpPr>
          <p:nvPr/>
        </p:nvSpPr>
        <p:spPr bwMode="auto">
          <a:xfrm>
            <a:off x="1816962" y="2154081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-</a:t>
            </a:r>
          </a:p>
        </p:txBody>
      </p:sp>
      <p:sp>
        <p:nvSpPr>
          <p:cNvPr id="7176" name="Rectangle 10"/>
          <p:cNvSpPr>
            <a:spLocks noChangeArrowheads="1"/>
          </p:cNvSpPr>
          <p:nvPr/>
        </p:nvSpPr>
        <p:spPr bwMode="auto">
          <a:xfrm>
            <a:off x="54592" y="358390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621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647849"/>
              </p:ext>
            </p:extLst>
          </p:nvPr>
        </p:nvGraphicFramePr>
        <p:xfrm>
          <a:off x="2305423" y="2154080"/>
          <a:ext cx="32824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Equation" r:id="rId5" imgW="1485900" imgH="279400" progId="Equation.3">
                  <p:embed/>
                </p:oleObj>
              </mc:Choice>
              <mc:Fallback>
                <p:oleObj name="Equation" r:id="rId5" imgW="14859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423" y="2154080"/>
                        <a:ext cx="32824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12"/>
          <p:cNvSpPr>
            <a:spLocks noChangeArrowheads="1"/>
          </p:cNvSpPr>
          <p:nvPr/>
        </p:nvSpPr>
        <p:spPr bwMode="auto">
          <a:xfrm>
            <a:off x="54592" y="357437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621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067645"/>
              </p:ext>
            </p:extLst>
          </p:nvPr>
        </p:nvGraphicFramePr>
        <p:xfrm>
          <a:off x="2305423" y="2854168"/>
          <a:ext cx="3376246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name="Equation" r:id="rId7" imgW="1562100" imgH="292100" progId="Equation.3">
                  <p:embed/>
                </p:oleObj>
              </mc:Choice>
              <mc:Fallback>
                <p:oleObj name="Equation" r:id="rId7" imgW="15621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423" y="2854168"/>
                        <a:ext cx="3376246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7" name="AutoShape 13"/>
          <p:cNvSpPr>
            <a:spLocks/>
          </p:cNvSpPr>
          <p:nvPr/>
        </p:nvSpPr>
        <p:spPr bwMode="auto">
          <a:xfrm>
            <a:off x="5760054" y="2510553"/>
            <a:ext cx="518818" cy="430054"/>
          </a:xfrm>
          <a:prstGeom prst="rightBrace">
            <a:avLst>
              <a:gd name="adj1" fmla="val 36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7181" name="Rectangle 15"/>
          <p:cNvSpPr>
            <a:spLocks noChangeArrowheads="1"/>
          </p:cNvSpPr>
          <p:nvPr/>
        </p:nvSpPr>
        <p:spPr bwMode="auto">
          <a:xfrm>
            <a:off x="54592" y="358390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621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956315"/>
              </p:ext>
            </p:extLst>
          </p:nvPr>
        </p:nvGraphicFramePr>
        <p:xfrm>
          <a:off x="6338161" y="2485868"/>
          <a:ext cx="178190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Equation" r:id="rId9" imgW="787400" imgH="279400" progId="Equation.3">
                  <p:embed/>
                </p:oleObj>
              </mc:Choice>
              <mc:Fallback>
                <p:oleObj name="Equation" r:id="rId9" imgW="7874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161" y="2485868"/>
                        <a:ext cx="1781908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Rectangle 17"/>
          <p:cNvSpPr>
            <a:spLocks noChangeArrowheads="1"/>
          </p:cNvSpPr>
          <p:nvPr/>
        </p:nvSpPr>
        <p:spPr bwMode="auto">
          <a:xfrm>
            <a:off x="54592" y="358390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621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828932"/>
              </p:ext>
            </p:extLst>
          </p:nvPr>
        </p:nvGraphicFramePr>
        <p:xfrm>
          <a:off x="2305423" y="3601880"/>
          <a:ext cx="2250831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Equation" r:id="rId11" imgW="1016000" imgH="279400" progId="Equation.3">
                  <p:embed/>
                </p:oleObj>
              </mc:Choice>
              <mc:Fallback>
                <p:oleObj name="Equation" r:id="rId11" imgW="1016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423" y="3601880"/>
                        <a:ext cx="2250831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62" name="Text Box 18"/>
          <p:cNvSpPr txBox="1">
            <a:spLocks noChangeArrowheads="1"/>
          </p:cNvSpPr>
          <p:nvPr/>
        </p:nvSpPr>
        <p:spPr bwMode="auto">
          <a:xfrm>
            <a:off x="1871670" y="3608231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-</a:t>
            </a:r>
          </a:p>
        </p:txBody>
      </p:sp>
      <p:sp>
        <p:nvSpPr>
          <p:cNvPr id="262163" name="Text Box 19"/>
          <p:cNvSpPr txBox="1">
            <a:spLocks noChangeArrowheads="1"/>
          </p:cNvSpPr>
          <p:nvPr/>
        </p:nvSpPr>
        <p:spPr bwMode="auto">
          <a:xfrm>
            <a:off x="1816962" y="4219419"/>
            <a:ext cx="55595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Karena semua syarat dipenuhi </a:t>
            </a:r>
            <a:r>
              <a:rPr lang="en-US" sz="1800">
                <a:latin typeface="+mn-lt"/>
                <a:sym typeface="Wingdings" pitchFamily="2" charset="2"/>
              </a:rPr>
              <a:t>  f(x) kontinu di x=2</a:t>
            </a:r>
            <a:endParaRPr 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5276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6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6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6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6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6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6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6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8" grpId="0"/>
      <p:bldP spid="262151" grpId="0"/>
      <p:bldP spid="262152" grpId="0"/>
      <p:bldP spid="262157" grpId="0" animBg="1"/>
      <p:bldP spid="262162" grpId="0"/>
      <p:bldP spid="2621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519883" y="6492838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45284FEF-7CCF-4C03-ACAB-76B5C174F568}" type="slidenum">
              <a:rPr lang="en-US" sz="1200" smtClean="0">
                <a:latin typeface="+mn-lt"/>
              </a:rPr>
              <a:pPr/>
              <a:t>5</a:t>
            </a:fld>
            <a:endParaRPr lang="en-US" sz="1200" smtClean="0">
              <a:latin typeface="+mn-lt"/>
            </a:endParaRPr>
          </a:p>
        </p:txBody>
      </p:sp>
      <p:sp>
        <p:nvSpPr>
          <p:cNvPr id="252932" name="Text Box 4"/>
          <p:cNvSpPr txBox="1">
            <a:spLocks noChangeArrowheads="1"/>
          </p:cNvSpPr>
          <p:nvPr/>
        </p:nvSpPr>
        <p:spPr bwMode="auto">
          <a:xfrm>
            <a:off x="937846" y="1257098"/>
            <a:ext cx="35702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b="1">
                <a:latin typeface="+mn-lt"/>
              </a:rPr>
              <a:t>Kontinu kiri dan kontinu kanan</a:t>
            </a:r>
          </a:p>
        </p:txBody>
      </p:sp>
      <p:sp>
        <p:nvSpPr>
          <p:cNvPr id="252933" name="Text Box 5"/>
          <p:cNvSpPr txBox="1">
            <a:spLocks noChangeArrowheads="1"/>
          </p:cNvSpPr>
          <p:nvPr/>
        </p:nvSpPr>
        <p:spPr bwMode="auto">
          <a:xfrm>
            <a:off x="1012092" y="1915911"/>
            <a:ext cx="43460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Fungsi f(x) disebut kontinu kiri di x=a jika</a:t>
            </a:r>
          </a:p>
        </p:txBody>
      </p:sp>
      <p:sp>
        <p:nvSpPr>
          <p:cNvPr id="8197" name="Rectangle 7"/>
          <p:cNvSpPr>
            <a:spLocks noChangeArrowheads="1"/>
          </p:cNvSpPr>
          <p:nvPr/>
        </p:nvSpPr>
        <p:spPr bwMode="auto">
          <a:xfrm>
            <a:off x="0" y="359179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29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77182"/>
              </p:ext>
            </p:extLst>
          </p:nvPr>
        </p:nvGraphicFramePr>
        <p:xfrm>
          <a:off x="2665046" y="2439830"/>
          <a:ext cx="2211754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Equation" r:id="rId3" imgW="1054100" imgH="279400" progId="Equation.3">
                  <p:embed/>
                </p:oleObj>
              </mc:Choice>
              <mc:Fallback>
                <p:oleObj name="Equation" r:id="rId3" imgW="10541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046" y="2439830"/>
                        <a:ext cx="2211754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6" name="Text Box 8"/>
          <p:cNvSpPr txBox="1">
            <a:spLocks noChangeArrowheads="1"/>
          </p:cNvSpPr>
          <p:nvPr/>
        </p:nvSpPr>
        <p:spPr bwMode="auto">
          <a:xfrm>
            <a:off x="990600" y="3052561"/>
            <a:ext cx="46794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Fungsi f(x) disebut kontinu kanan di x=a jika</a:t>
            </a:r>
          </a:p>
        </p:txBody>
      </p:sp>
      <p:graphicFrame>
        <p:nvGraphicFramePr>
          <p:cNvPr id="2529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811712"/>
              </p:ext>
            </p:extLst>
          </p:nvPr>
        </p:nvGraphicFramePr>
        <p:xfrm>
          <a:off x="2643554" y="3576480"/>
          <a:ext cx="2211754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" name="Equation" r:id="rId5" imgW="1054100" imgH="279400" progId="Equation.3">
                  <p:embed/>
                </p:oleObj>
              </mc:Choice>
              <mc:Fallback>
                <p:oleObj name="Equation" r:id="rId5" imgW="10541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554" y="3576480"/>
                        <a:ext cx="2211754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8" name="Text Box 10"/>
          <p:cNvSpPr txBox="1">
            <a:spLocks noChangeArrowheads="1"/>
          </p:cNvSpPr>
          <p:nvPr/>
        </p:nvSpPr>
        <p:spPr bwMode="auto">
          <a:xfrm>
            <a:off x="1031631" y="4347961"/>
            <a:ext cx="69813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Fungsi f(x) kontinu di x=a jika kontinu kiri dan kontinu kanan di x=a</a:t>
            </a:r>
          </a:p>
        </p:txBody>
      </p:sp>
      <p:sp>
        <p:nvSpPr>
          <p:cNvPr id="8202" name="Text Box 11"/>
          <p:cNvSpPr txBox="1">
            <a:spLocks noChangeArrowheads="1"/>
          </p:cNvSpPr>
          <p:nvPr/>
        </p:nvSpPr>
        <p:spPr bwMode="auto">
          <a:xfrm>
            <a:off x="1199662" y="481151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endParaRPr lang="id-ID" sz="1800">
              <a:latin typeface="+mn-lt"/>
            </a:endParaRPr>
          </a:p>
        </p:txBody>
      </p:sp>
      <p:sp>
        <p:nvSpPr>
          <p:cNvPr id="252940" name="Text Box 12"/>
          <p:cNvSpPr txBox="1">
            <a:spLocks noChangeArrowheads="1"/>
          </p:cNvSpPr>
          <p:nvPr/>
        </p:nvSpPr>
        <p:spPr bwMode="auto">
          <a:xfrm>
            <a:off x="1105877" y="4811511"/>
            <a:ext cx="45448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Contoh : Tentukan konstanta a agar fungsi</a:t>
            </a:r>
          </a:p>
        </p:txBody>
      </p:sp>
      <p:sp>
        <p:nvSpPr>
          <p:cNvPr id="8204" name="Rectangle 14"/>
          <p:cNvSpPr>
            <a:spLocks noChangeArrowheads="1"/>
          </p:cNvSpPr>
          <p:nvPr/>
        </p:nvSpPr>
        <p:spPr bwMode="auto">
          <a:xfrm>
            <a:off x="0" y="362989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29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491653"/>
              </p:ext>
            </p:extLst>
          </p:nvPr>
        </p:nvGraphicFramePr>
        <p:xfrm>
          <a:off x="3563815" y="5338560"/>
          <a:ext cx="253218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name="Equation" r:id="rId7" imgW="1358900" imgH="457200" progId="Equation.3">
                  <p:embed/>
                </p:oleObj>
              </mc:Choice>
              <mc:Fallback>
                <p:oleObj name="Equation" r:id="rId7" imgW="1358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15" y="5338560"/>
                        <a:ext cx="253218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3" name="Text Box 15"/>
          <p:cNvSpPr txBox="1">
            <a:spLocks noChangeArrowheads="1"/>
          </p:cNvSpPr>
          <p:nvPr/>
        </p:nvSpPr>
        <p:spPr bwMode="auto">
          <a:xfrm>
            <a:off x="2512647" y="6024361"/>
            <a:ext cx="16530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Kontinu di x=2</a:t>
            </a:r>
          </a:p>
        </p:txBody>
      </p:sp>
    </p:spTree>
    <p:extLst>
      <p:ext uri="{BB962C8B-B14F-4D97-AF65-F5344CB8AC3E}">
        <p14:creationId xmlns:p14="http://schemas.microsoft.com/office/powerpoint/2010/main" val="150078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5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5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5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2" grpId="0"/>
      <p:bldP spid="252933" grpId="0"/>
      <p:bldP spid="252936" grpId="0"/>
      <p:bldP spid="252938" grpId="0"/>
      <p:bldP spid="252940" grpId="0"/>
      <p:bldP spid="2529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3E70D460-D0C9-41E2-BE50-4BC98B855B1E}" type="slidenum">
              <a:rPr lang="en-US" sz="1200" smtClean="0">
                <a:latin typeface="+mn-lt"/>
              </a:rPr>
              <a:pPr/>
              <a:t>6</a:t>
            </a:fld>
            <a:endParaRPr lang="en-US" sz="1200" smtClean="0">
              <a:latin typeface="+mn-lt"/>
            </a:endParaRPr>
          </a:p>
        </p:txBody>
      </p:sp>
      <p:sp>
        <p:nvSpPr>
          <p:cNvPr id="254980" name="Text Box 4"/>
          <p:cNvSpPr txBox="1">
            <a:spLocks noChangeArrowheads="1"/>
          </p:cNvSpPr>
          <p:nvPr/>
        </p:nvSpPr>
        <p:spPr bwMode="auto">
          <a:xfrm>
            <a:off x="971148" y="1273327"/>
            <a:ext cx="9797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Jawab :</a:t>
            </a:r>
          </a:p>
        </p:txBody>
      </p:sp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1252502" y="1578127"/>
            <a:ext cx="35766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Agar f(x) kontinu di x=2, haruslah</a:t>
            </a:r>
          </a:p>
        </p:txBody>
      </p:sp>
      <p:sp>
        <p:nvSpPr>
          <p:cNvPr id="254984" name="Text Box 8"/>
          <p:cNvSpPr txBox="1">
            <a:spLocks noChangeArrowheads="1"/>
          </p:cNvSpPr>
          <p:nvPr/>
        </p:nvSpPr>
        <p:spPr bwMode="auto">
          <a:xfrm>
            <a:off x="1414672" y="2111527"/>
            <a:ext cx="21018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 kontinu kiri di x=2</a:t>
            </a:r>
          </a:p>
        </p:txBody>
      </p:sp>
      <p:sp>
        <p:nvSpPr>
          <p:cNvPr id="9222" name="Rectangle 10"/>
          <p:cNvSpPr>
            <a:spLocks noChangeArrowheads="1"/>
          </p:cNvSpPr>
          <p:nvPr/>
        </p:nvSpPr>
        <p:spPr bwMode="auto">
          <a:xfrm>
            <a:off x="0" y="310622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49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840962"/>
              </p:ext>
            </p:extLst>
          </p:nvPr>
        </p:nvGraphicFramePr>
        <p:xfrm>
          <a:off x="1647179" y="2562376"/>
          <a:ext cx="24384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Equation" r:id="rId3" imgW="1054100" imgH="279400" progId="Equation.3">
                  <p:embed/>
                </p:oleObj>
              </mc:Choice>
              <mc:Fallback>
                <p:oleObj name="Equation" r:id="rId3" imgW="10541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179" y="2562376"/>
                        <a:ext cx="24384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12"/>
          <p:cNvSpPr>
            <a:spLocks noChangeArrowheads="1"/>
          </p:cNvSpPr>
          <p:nvPr/>
        </p:nvSpPr>
        <p:spPr bwMode="auto">
          <a:xfrm>
            <a:off x="0" y="310622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49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15075"/>
              </p:ext>
            </p:extLst>
          </p:nvPr>
        </p:nvGraphicFramePr>
        <p:xfrm>
          <a:off x="1533857" y="3171976"/>
          <a:ext cx="3864708" cy="496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Equation" r:id="rId5" imgW="1752600" imgH="279400" progId="Equation.3">
                  <p:embed/>
                </p:oleObj>
              </mc:Choice>
              <mc:Fallback>
                <p:oleObj name="Equation" r:id="rId5" imgW="17526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857" y="3171976"/>
                        <a:ext cx="3864708" cy="4967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Rectangle 14"/>
          <p:cNvSpPr>
            <a:spLocks noChangeArrowheads="1"/>
          </p:cNvSpPr>
          <p:nvPr/>
        </p:nvSpPr>
        <p:spPr bwMode="auto">
          <a:xfrm>
            <a:off x="0" y="313003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49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318273"/>
              </p:ext>
            </p:extLst>
          </p:nvPr>
        </p:nvGraphicFramePr>
        <p:xfrm>
          <a:off x="6430194" y="3205314"/>
          <a:ext cx="3068648" cy="396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Equation" r:id="rId7" imgW="1435100" imgH="228600" progId="Equation.3">
                  <p:embed/>
                </p:oleObj>
              </mc:Choice>
              <mc:Fallback>
                <p:oleObj name="Equation" r:id="rId7" imgW="1435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194" y="3205314"/>
                        <a:ext cx="3068648" cy="396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91" name="Line 15"/>
          <p:cNvSpPr>
            <a:spLocks noChangeShapeType="1"/>
          </p:cNvSpPr>
          <p:nvPr/>
        </p:nvSpPr>
        <p:spPr bwMode="auto">
          <a:xfrm>
            <a:off x="4273149" y="3629176"/>
            <a:ext cx="126784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4992" name="Line 16"/>
          <p:cNvSpPr>
            <a:spLocks noChangeShapeType="1"/>
          </p:cNvSpPr>
          <p:nvPr/>
        </p:nvSpPr>
        <p:spPr bwMode="auto">
          <a:xfrm flipH="1">
            <a:off x="5994093" y="3629176"/>
            <a:ext cx="1092594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4993" name="Text Box 17"/>
          <p:cNvSpPr txBox="1">
            <a:spLocks noChangeArrowheads="1"/>
          </p:cNvSpPr>
          <p:nvPr/>
        </p:nvSpPr>
        <p:spPr bwMode="auto">
          <a:xfrm>
            <a:off x="5060230" y="3827065"/>
            <a:ext cx="160813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2 + a = 4a – 1</a:t>
            </a:r>
          </a:p>
          <a:p>
            <a:r>
              <a:rPr lang="en-US" sz="1800" dirty="0">
                <a:latin typeface="+mn-lt"/>
              </a:rPr>
              <a:t>     -3a = -3</a:t>
            </a:r>
          </a:p>
          <a:p>
            <a:r>
              <a:rPr lang="en-US" sz="1800" dirty="0">
                <a:latin typeface="+mn-lt"/>
              </a:rPr>
              <a:t>        a = 1</a:t>
            </a:r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>
            <a:off x="1357924" y="4556126"/>
            <a:ext cx="24352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f kontinu kanan di x=2</a:t>
            </a:r>
          </a:p>
        </p:txBody>
      </p:sp>
      <p:graphicFrame>
        <p:nvGraphicFramePr>
          <p:cNvPr id="254995" name="Object 19"/>
          <p:cNvGraphicFramePr>
            <a:graphicFrameLocks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87098145"/>
              </p:ext>
            </p:extLst>
          </p:nvPr>
        </p:nvGraphicFramePr>
        <p:xfrm>
          <a:off x="1781908" y="5029201"/>
          <a:ext cx="231530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Equation" r:id="rId9" imgW="1040948" imgH="279279" progId="Equation.3">
                  <p:embed/>
                </p:oleObj>
              </mc:Choice>
              <mc:Fallback>
                <p:oleObj name="Equation" r:id="rId9" imgW="1040948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908" y="5029201"/>
                        <a:ext cx="231530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7" name="Object 21"/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55325532"/>
              </p:ext>
            </p:extLst>
          </p:nvPr>
        </p:nvGraphicFramePr>
        <p:xfrm>
          <a:off x="5158154" y="4953000"/>
          <a:ext cx="318867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Equation" r:id="rId11" imgW="1435100" imgH="228600" progId="Equation.3">
                  <p:embed/>
                </p:oleObj>
              </mc:Choice>
              <mc:Fallback>
                <p:oleObj name="Equation" r:id="rId11" imgW="1435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8154" y="4953000"/>
                        <a:ext cx="318867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Rectangle 25"/>
          <p:cNvSpPr>
            <a:spLocks noChangeArrowheads="1"/>
          </p:cNvSpPr>
          <p:nvPr/>
        </p:nvSpPr>
        <p:spPr bwMode="auto">
          <a:xfrm>
            <a:off x="0" y="309669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25500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387524"/>
              </p:ext>
            </p:extLst>
          </p:nvPr>
        </p:nvGraphicFramePr>
        <p:xfrm>
          <a:off x="5158154" y="5486401"/>
          <a:ext cx="440787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Equation" r:id="rId12" imgW="1905000" imgH="292100" progId="Equation.3">
                  <p:embed/>
                </p:oleObj>
              </mc:Choice>
              <mc:Fallback>
                <p:oleObj name="Equation" r:id="rId12" imgW="19050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8154" y="5486401"/>
                        <a:ext cx="4407877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2" name="AutoShape 26"/>
          <p:cNvSpPr>
            <a:spLocks noChangeArrowheads="1"/>
          </p:cNvSpPr>
          <p:nvPr/>
        </p:nvSpPr>
        <p:spPr bwMode="auto">
          <a:xfrm>
            <a:off x="4407877" y="5005269"/>
            <a:ext cx="231181" cy="733663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5003" name="AutoShape 27"/>
          <p:cNvSpPr>
            <a:spLocks/>
          </p:cNvSpPr>
          <p:nvPr/>
        </p:nvSpPr>
        <p:spPr bwMode="auto">
          <a:xfrm>
            <a:off x="9659815" y="5285661"/>
            <a:ext cx="562708" cy="401479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255004" name="Text Box 28"/>
          <p:cNvSpPr txBox="1">
            <a:spLocks noChangeArrowheads="1"/>
          </p:cNvSpPr>
          <p:nvPr/>
        </p:nvSpPr>
        <p:spPr bwMode="auto">
          <a:xfrm>
            <a:off x="10296769" y="5111751"/>
            <a:ext cx="10567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Selalu </a:t>
            </a:r>
          </a:p>
          <a:p>
            <a:r>
              <a:rPr lang="en-US" sz="1800">
                <a:latin typeface="+mn-lt"/>
              </a:rPr>
              <a:t>dipenuhi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500555" y="6002736"/>
            <a:ext cx="44935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Jadi agar f(x) kontinu di x = 2, maka a = 1.</a:t>
            </a:r>
          </a:p>
        </p:txBody>
      </p:sp>
    </p:spTree>
    <p:extLst>
      <p:ext uri="{BB962C8B-B14F-4D97-AF65-F5344CB8AC3E}">
        <p14:creationId xmlns:p14="http://schemas.microsoft.com/office/powerpoint/2010/main" val="284435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5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5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5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5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5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5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5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5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5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5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5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25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0" grpId="0"/>
      <p:bldP spid="254981" grpId="0"/>
      <p:bldP spid="254984" grpId="0"/>
      <p:bldP spid="254991" grpId="0" animBg="1"/>
      <p:bldP spid="254992" grpId="0" animBg="1"/>
      <p:bldP spid="254993" grpId="0"/>
      <p:bldP spid="254994" grpId="0"/>
      <p:bldP spid="255002" grpId="0" animBg="1"/>
      <p:bldP spid="255003" grpId="0" animBg="1"/>
      <p:bldP spid="255004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A3CC1527-578B-4A28-8D1E-DF480EB1D6D8}" type="slidenum">
              <a:rPr lang="en-US" sz="1200" smtClean="0">
                <a:latin typeface="+mn-lt"/>
              </a:rPr>
              <a:pPr/>
              <a:t>7</a:t>
            </a:fld>
            <a:endParaRPr lang="en-US" sz="1200" smtClean="0">
              <a:latin typeface="+mn-lt"/>
            </a:endParaRPr>
          </a:p>
        </p:txBody>
      </p:sp>
      <p:sp>
        <p:nvSpPr>
          <p:cNvPr id="269317" name="Rectangle 5"/>
          <p:cNvSpPr>
            <a:spLocks noChangeArrowheads="1"/>
          </p:cNvSpPr>
          <p:nvPr/>
        </p:nvSpPr>
        <p:spPr bwMode="auto">
          <a:xfrm>
            <a:off x="1994525" y="1991528"/>
            <a:ext cx="1531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800">
                <a:latin typeface="+mn-lt"/>
                <a:cs typeface="Times New Roman" pitchFamily="18" charset="0"/>
              </a:rPr>
              <a:t>1. Diketahui  </a:t>
            </a:r>
            <a:endParaRPr lang="en-US" sz="1800">
              <a:latin typeface="+mn-lt"/>
            </a:endParaRPr>
          </a:p>
        </p:txBody>
      </p:sp>
      <p:graphicFrame>
        <p:nvGraphicFramePr>
          <p:cNvPr id="269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382883"/>
              </p:ext>
            </p:extLst>
          </p:nvPr>
        </p:nvGraphicFramePr>
        <p:xfrm>
          <a:off x="3596366" y="1766620"/>
          <a:ext cx="2804785" cy="785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3" imgW="1409088" imgH="482391" progId="Equation.3">
                  <p:embed/>
                </p:oleObj>
              </mc:Choice>
              <mc:Fallback>
                <p:oleObj name="Equation" r:id="rId3" imgW="1409088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366" y="1766620"/>
                        <a:ext cx="2804785" cy="785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8" name="Rectangle 6"/>
          <p:cNvSpPr>
            <a:spLocks noChangeArrowheads="1"/>
          </p:cNvSpPr>
          <p:nvPr/>
        </p:nvSpPr>
        <p:spPr bwMode="auto">
          <a:xfrm>
            <a:off x="2328945" y="2552268"/>
            <a:ext cx="42819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800">
                <a:latin typeface="+mn-lt"/>
                <a:cs typeface="Times New Roman" pitchFamily="18" charset="0"/>
              </a:rPr>
              <a:t>selidiki kekontinuan fungsi  f(x)  di </a:t>
            </a:r>
            <a:r>
              <a:rPr lang="en-US" sz="1800" i="1">
                <a:latin typeface="+mn-lt"/>
                <a:cs typeface="Times New Roman" pitchFamily="18" charset="0"/>
              </a:rPr>
              <a:t>x</a:t>
            </a:r>
            <a:r>
              <a:rPr lang="en-US" sz="1800">
                <a:latin typeface="+mn-lt"/>
                <a:cs typeface="Times New Roman" pitchFamily="18" charset="0"/>
              </a:rPr>
              <a:t> = -1</a:t>
            </a:r>
            <a:endParaRPr lang="en-US" sz="1800">
              <a:latin typeface="+mn-lt"/>
            </a:endParaRPr>
          </a:p>
        </p:txBody>
      </p:sp>
      <p:sp>
        <p:nvSpPr>
          <p:cNvPr id="269319" name="Text Box 7"/>
          <p:cNvSpPr txBox="1">
            <a:spLocks noChangeArrowheads="1"/>
          </p:cNvSpPr>
          <p:nvPr/>
        </p:nvSpPr>
        <p:spPr bwMode="auto">
          <a:xfrm>
            <a:off x="2006645" y="1385927"/>
            <a:ext cx="146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Soal Latihan</a:t>
            </a:r>
          </a:p>
        </p:txBody>
      </p:sp>
      <p:sp>
        <p:nvSpPr>
          <p:cNvPr id="269321" name="Rectangle 9"/>
          <p:cNvSpPr>
            <a:spLocks noChangeArrowheads="1"/>
          </p:cNvSpPr>
          <p:nvPr/>
        </p:nvSpPr>
        <p:spPr bwMode="auto">
          <a:xfrm>
            <a:off x="1983470" y="2988854"/>
            <a:ext cx="16722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800">
                <a:latin typeface="+mn-lt"/>
                <a:cs typeface="Times New Roman" pitchFamily="18" charset="0"/>
              </a:rPr>
              <a:t>2. Agar fungsi </a:t>
            </a:r>
            <a:endParaRPr lang="en-US" sz="1800">
              <a:latin typeface="+mn-lt"/>
            </a:endParaRPr>
          </a:p>
        </p:txBody>
      </p:sp>
      <p:graphicFrame>
        <p:nvGraphicFramePr>
          <p:cNvPr id="269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44822"/>
              </p:ext>
            </p:extLst>
          </p:nvPr>
        </p:nvGraphicFramePr>
        <p:xfrm>
          <a:off x="3323406" y="3096770"/>
          <a:ext cx="2845383" cy="107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Equation" r:id="rId5" imgW="1536700" imgH="711200" progId="Equation.3">
                  <p:embed/>
                </p:oleObj>
              </mc:Choice>
              <mc:Fallback>
                <p:oleObj name="Equation" r:id="rId5" imgW="15367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406" y="3096770"/>
                        <a:ext cx="2845383" cy="10771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2" name="Rectangle 10"/>
          <p:cNvSpPr>
            <a:spLocks noChangeArrowheads="1"/>
          </p:cNvSpPr>
          <p:nvPr/>
        </p:nvSpPr>
        <p:spPr bwMode="auto">
          <a:xfrm>
            <a:off x="2312278" y="4266241"/>
            <a:ext cx="46794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800">
                <a:latin typeface="+mn-lt"/>
                <a:cs typeface="Times New Roman" pitchFamily="18" charset="0"/>
              </a:rPr>
              <a:t>  kontinu pada </a:t>
            </a:r>
            <a:r>
              <a:rPr lang="en-US" sz="1800" b="1">
                <a:latin typeface="+mn-lt"/>
                <a:cs typeface="Times New Roman" pitchFamily="18" charset="0"/>
              </a:rPr>
              <a:t>R</a:t>
            </a:r>
            <a:r>
              <a:rPr lang="en-US" sz="1800">
                <a:latin typeface="+mn-lt"/>
                <a:cs typeface="Times New Roman" pitchFamily="18" charset="0"/>
              </a:rPr>
              <a:t>, maka berapakah </a:t>
            </a:r>
            <a:r>
              <a:rPr lang="en-US" sz="1800" i="1">
                <a:latin typeface="+mn-lt"/>
                <a:cs typeface="Times New Roman" pitchFamily="18" charset="0"/>
              </a:rPr>
              <a:t>a + </a:t>
            </a:r>
            <a:r>
              <a:rPr lang="en-US" sz="1800">
                <a:latin typeface="+mn-lt"/>
                <a:cs typeface="Times New Roman" pitchFamily="18" charset="0"/>
              </a:rPr>
              <a:t>2</a:t>
            </a:r>
            <a:r>
              <a:rPr lang="en-US" sz="1800" i="1">
                <a:latin typeface="+mn-lt"/>
                <a:cs typeface="Times New Roman" pitchFamily="18" charset="0"/>
              </a:rPr>
              <a:t>b</a:t>
            </a:r>
            <a:r>
              <a:rPr lang="en-US" sz="1800">
                <a:latin typeface="+mn-lt"/>
                <a:cs typeface="Times New Roman" pitchFamily="18" charset="0"/>
              </a:rPr>
              <a:t> ? </a:t>
            </a:r>
            <a:endParaRPr lang="en-US" sz="1800">
              <a:latin typeface="+mn-lt"/>
            </a:endParaRPr>
          </a:p>
        </p:txBody>
      </p:sp>
      <p:sp>
        <p:nvSpPr>
          <p:cNvPr id="269324" name="Rectangle 12"/>
          <p:cNvSpPr>
            <a:spLocks noChangeArrowheads="1"/>
          </p:cNvSpPr>
          <p:nvPr/>
        </p:nvSpPr>
        <p:spPr bwMode="auto">
          <a:xfrm>
            <a:off x="1957224" y="4665389"/>
            <a:ext cx="3506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1" hangingPunct="1">
              <a:buSzPct val="100000"/>
            </a:pPr>
            <a:r>
              <a:rPr lang="en-US" sz="1800">
                <a:latin typeface="+mn-lt"/>
                <a:cs typeface="Times New Roman" pitchFamily="18" charset="0"/>
              </a:rPr>
              <a:t>3. Tentukan </a:t>
            </a:r>
            <a:r>
              <a:rPr lang="en-US" sz="1800" i="1">
                <a:latin typeface="+mn-lt"/>
                <a:cs typeface="Times New Roman" pitchFamily="18" charset="0"/>
              </a:rPr>
              <a:t>a</a:t>
            </a:r>
            <a:r>
              <a:rPr lang="en-US" sz="1800">
                <a:latin typeface="+mn-lt"/>
                <a:cs typeface="Times New Roman" pitchFamily="18" charset="0"/>
              </a:rPr>
              <a:t> dan </a:t>
            </a:r>
            <a:r>
              <a:rPr lang="en-US" sz="1800" i="1">
                <a:latin typeface="+mn-lt"/>
                <a:cs typeface="Times New Roman" pitchFamily="18" charset="0"/>
              </a:rPr>
              <a:t>b </a:t>
            </a:r>
            <a:r>
              <a:rPr lang="en-US" sz="1800">
                <a:latin typeface="+mn-lt"/>
                <a:cs typeface="Times New Roman" pitchFamily="18" charset="0"/>
              </a:rPr>
              <a:t>agar fungsi </a:t>
            </a:r>
            <a:endParaRPr lang="en-US" sz="1800">
              <a:latin typeface="+mn-lt"/>
            </a:endParaRPr>
          </a:p>
        </p:txBody>
      </p:sp>
      <p:graphicFrame>
        <p:nvGraphicFramePr>
          <p:cNvPr id="269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065331"/>
              </p:ext>
            </p:extLst>
          </p:nvPr>
        </p:nvGraphicFramePr>
        <p:xfrm>
          <a:off x="3653388" y="5034866"/>
          <a:ext cx="2924838" cy="892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Equation" r:id="rId7" imgW="1562040" imgH="583920" progId="Equation.3">
                  <p:embed/>
                </p:oleObj>
              </mc:Choice>
              <mc:Fallback>
                <p:oleObj name="Equation" r:id="rId7" imgW="156204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3388" y="5034866"/>
                        <a:ext cx="2924838" cy="892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5" name="Rectangle 13"/>
          <p:cNvSpPr>
            <a:spLocks noChangeArrowheads="1"/>
          </p:cNvSpPr>
          <p:nvPr/>
        </p:nvSpPr>
        <p:spPr bwMode="auto">
          <a:xfrm>
            <a:off x="2035931" y="5941498"/>
            <a:ext cx="17427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800">
                <a:latin typeface="+mn-lt"/>
                <a:cs typeface="Times New Roman" pitchFamily="18" charset="0"/>
              </a:rPr>
              <a:t>kontinu di </a:t>
            </a:r>
            <a:r>
              <a:rPr lang="en-US" sz="1800" i="1">
                <a:latin typeface="+mn-lt"/>
                <a:cs typeface="Times New Roman" pitchFamily="18" charset="0"/>
              </a:rPr>
              <a:t>x =</a:t>
            </a:r>
            <a:r>
              <a:rPr lang="en-US" sz="1800">
                <a:latin typeface="+mn-lt"/>
                <a:cs typeface="Times New Roman" pitchFamily="18" charset="0"/>
              </a:rPr>
              <a:t> 2</a:t>
            </a:r>
            <a:endParaRPr 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480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6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6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69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6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69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7" grpId="0"/>
      <p:bldP spid="269318" grpId="0"/>
      <p:bldP spid="269319" grpId="0"/>
      <p:bldP spid="269321" grpId="0"/>
      <p:bldP spid="269322" grpId="0"/>
      <p:bldP spid="269324" grpId="0"/>
      <p:bldP spid="2693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519883" y="6492838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E3CED50B-7BA5-4B5B-819A-979720DABB03}" type="slidenum">
              <a:rPr lang="en-US" sz="1200" smtClean="0">
                <a:latin typeface="+mn-lt"/>
              </a:rPr>
              <a:pPr/>
              <a:t>8</a:t>
            </a:fld>
            <a:endParaRPr lang="en-US" sz="1200" smtClean="0">
              <a:latin typeface="+mn-lt"/>
            </a:endParaRPr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98656"/>
            <a:ext cx="10972800" cy="1036638"/>
          </a:xfrm>
        </p:spPr>
        <p:txBody>
          <a:bodyPr/>
          <a:lstStyle/>
          <a:p>
            <a:pPr eaLnBrk="1" hangingPunct="1"/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Kekontinuan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pada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interval</a:t>
            </a:r>
            <a:br>
              <a:rPr lang="en-US" sz="1800" b="1" dirty="0" smtClean="0">
                <a:solidFill>
                  <a:schemeClr val="tx1"/>
                </a:solidFill>
                <a:latin typeface="+mn-lt"/>
              </a:rPr>
            </a:br>
            <a:endParaRPr lang="en-US" sz="1800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2013056"/>
            <a:ext cx="10363200" cy="5257800"/>
          </a:xfrm>
        </p:spPr>
        <p:txBody>
          <a:bodyPr/>
          <a:lstStyle/>
          <a:p>
            <a:pPr eaLnBrk="1" hangingPunct="1"/>
            <a:r>
              <a:rPr lang="en-US" sz="1800" dirty="0" err="1" smtClean="0">
                <a:latin typeface="+mn-lt"/>
              </a:rPr>
              <a:t>Fungsi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i="1" dirty="0" smtClean="0">
                <a:latin typeface="+mn-lt"/>
              </a:rPr>
              <a:t>f</a:t>
            </a:r>
            <a:r>
              <a:rPr lang="en-US" sz="1800" dirty="0" smtClean="0">
                <a:latin typeface="+mn-lt"/>
              </a:rPr>
              <a:t>(</a:t>
            </a:r>
            <a:r>
              <a:rPr lang="en-US" sz="1800" i="1" dirty="0" smtClean="0">
                <a:latin typeface="+mn-lt"/>
              </a:rPr>
              <a:t>x</a:t>
            </a:r>
            <a:r>
              <a:rPr lang="en-US" sz="1800" dirty="0" smtClean="0">
                <a:latin typeface="+mn-lt"/>
              </a:rPr>
              <a:t>) </a:t>
            </a:r>
            <a:r>
              <a:rPr lang="en-US" sz="1800" dirty="0" err="1" smtClean="0">
                <a:latin typeface="+mn-lt"/>
              </a:rPr>
              <a:t>dikatakan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b="1" u="sng" dirty="0" err="1" smtClean="0">
                <a:latin typeface="+mn-lt"/>
              </a:rPr>
              <a:t>kontinu</a:t>
            </a:r>
            <a:r>
              <a:rPr lang="en-US" sz="1800" b="1" u="sng" dirty="0" smtClean="0">
                <a:latin typeface="+mn-lt"/>
              </a:rPr>
              <a:t> </a:t>
            </a:r>
            <a:r>
              <a:rPr lang="en-US" sz="1800" b="1" u="sng" dirty="0" err="1" smtClean="0">
                <a:latin typeface="+mn-lt"/>
              </a:rPr>
              <a:t>pada</a:t>
            </a:r>
            <a:r>
              <a:rPr lang="en-US" sz="1800" b="1" u="sng" dirty="0" smtClean="0">
                <a:latin typeface="+mn-lt"/>
              </a:rPr>
              <a:t> interval </a:t>
            </a:r>
            <a:r>
              <a:rPr lang="en-US" sz="1800" b="1" u="sng" dirty="0" err="1" smtClean="0">
                <a:latin typeface="+mn-lt"/>
              </a:rPr>
              <a:t>buka</a:t>
            </a:r>
            <a:r>
              <a:rPr lang="en-US" sz="1800" dirty="0" smtClean="0">
                <a:latin typeface="+mn-lt"/>
              </a:rPr>
              <a:t> ( </a:t>
            </a:r>
            <a:r>
              <a:rPr lang="en-US" sz="1800" i="1" dirty="0" err="1" smtClean="0">
                <a:latin typeface="+mn-lt"/>
              </a:rPr>
              <a:t>a,b</a:t>
            </a:r>
            <a:r>
              <a:rPr lang="en-US" sz="1800" i="1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) </a:t>
            </a:r>
            <a:r>
              <a:rPr lang="en-US" sz="1800" dirty="0" err="1" smtClean="0">
                <a:latin typeface="+mn-lt"/>
              </a:rPr>
              <a:t>bila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i="1" dirty="0" smtClean="0">
                <a:latin typeface="+mn-lt"/>
              </a:rPr>
              <a:t>f</a:t>
            </a:r>
            <a:r>
              <a:rPr lang="en-US" sz="1800" dirty="0" smtClean="0">
                <a:latin typeface="+mn-lt"/>
              </a:rPr>
              <a:t>(</a:t>
            </a:r>
            <a:r>
              <a:rPr lang="en-US" sz="1800" i="1" dirty="0" smtClean="0">
                <a:latin typeface="+mn-lt"/>
              </a:rPr>
              <a:t>x</a:t>
            </a:r>
            <a:r>
              <a:rPr lang="en-US" sz="1800" dirty="0" smtClean="0">
                <a:latin typeface="+mn-lt"/>
              </a:rPr>
              <a:t>)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pada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setiap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titik</a:t>
            </a:r>
            <a:r>
              <a:rPr lang="en-US" sz="1800" dirty="0" smtClean="0">
                <a:latin typeface="+mn-lt"/>
              </a:rPr>
              <a:t> di </a:t>
            </a:r>
            <a:r>
              <a:rPr lang="en-US" sz="1800" dirty="0" err="1" smtClean="0">
                <a:latin typeface="+mn-lt"/>
              </a:rPr>
              <a:t>dalam</a:t>
            </a:r>
            <a:r>
              <a:rPr lang="en-US" sz="1800" dirty="0" smtClean="0">
                <a:latin typeface="+mn-lt"/>
              </a:rPr>
              <a:t> interval </a:t>
            </a:r>
            <a:r>
              <a:rPr lang="en-US" sz="1800" dirty="0" err="1" smtClean="0">
                <a:latin typeface="+mn-lt"/>
              </a:rPr>
              <a:t>tersebut</a:t>
            </a:r>
            <a:r>
              <a:rPr lang="en-US" sz="1800" dirty="0" smtClean="0">
                <a:latin typeface="+mn-lt"/>
              </a:rPr>
              <a:t>. </a:t>
            </a:r>
          </a:p>
          <a:p>
            <a:pPr eaLnBrk="1" hangingPunct="1"/>
            <a:r>
              <a:rPr lang="en-US" sz="1800" dirty="0" err="1" smtClean="0">
                <a:latin typeface="+mn-lt"/>
              </a:rPr>
              <a:t>Sedangkan</a:t>
            </a:r>
            <a:r>
              <a:rPr lang="en-US" sz="1800" dirty="0" smtClean="0">
                <a:latin typeface="+mn-lt"/>
              </a:rPr>
              <a:t>  </a:t>
            </a:r>
            <a:r>
              <a:rPr lang="en-US" sz="1800" i="1" dirty="0" smtClean="0">
                <a:latin typeface="+mn-lt"/>
              </a:rPr>
              <a:t>f</a:t>
            </a:r>
            <a:r>
              <a:rPr lang="en-US" sz="1800" dirty="0" smtClean="0">
                <a:latin typeface="+mn-lt"/>
              </a:rPr>
              <a:t>(</a:t>
            </a:r>
            <a:r>
              <a:rPr lang="en-US" sz="1800" i="1" dirty="0" smtClean="0">
                <a:latin typeface="+mn-lt"/>
              </a:rPr>
              <a:t>x</a:t>
            </a:r>
            <a:r>
              <a:rPr lang="en-US" sz="1800" dirty="0" smtClean="0">
                <a:latin typeface="+mn-lt"/>
              </a:rPr>
              <a:t>) </a:t>
            </a:r>
            <a:r>
              <a:rPr lang="en-US" sz="1800" dirty="0" err="1" smtClean="0">
                <a:latin typeface="+mn-lt"/>
              </a:rPr>
              <a:t>dikatakan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b="1" u="sng" dirty="0" err="1" smtClean="0">
                <a:latin typeface="+mn-lt"/>
              </a:rPr>
              <a:t>kontinu</a:t>
            </a:r>
            <a:r>
              <a:rPr lang="en-US" sz="1800" b="1" u="sng" dirty="0" smtClean="0">
                <a:latin typeface="+mn-lt"/>
              </a:rPr>
              <a:t> </a:t>
            </a:r>
            <a:r>
              <a:rPr lang="en-US" sz="1800" b="1" u="sng" dirty="0" err="1" smtClean="0">
                <a:latin typeface="+mn-lt"/>
              </a:rPr>
              <a:t>pada</a:t>
            </a:r>
            <a:r>
              <a:rPr lang="en-US" sz="1800" b="1" u="sng" dirty="0" smtClean="0">
                <a:latin typeface="+mn-lt"/>
              </a:rPr>
              <a:t> interval </a:t>
            </a:r>
            <a:r>
              <a:rPr lang="en-US" sz="1800" b="1" u="sng" dirty="0" err="1" smtClean="0">
                <a:latin typeface="+mn-lt"/>
              </a:rPr>
              <a:t>tutup</a:t>
            </a:r>
            <a:r>
              <a:rPr lang="en-US" sz="1800" dirty="0" smtClean="0">
                <a:latin typeface="+mn-lt"/>
              </a:rPr>
              <a:t> [ </a:t>
            </a:r>
            <a:r>
              <a:rPr lang="en-US" sz="1800" i="1" dirty="0" err="1" smtClean="0">
                <a:latin typeface="+mn-lt"/>
              </a:rPr>
              <a:t>a,b</a:t>
            </a:r>
            <a:r>
              <a:rPr lang="en-US" sz="1800" i="1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] </a:t>
            </a:r>
            <a:r>
              <a:rPr lang="en-US" sz="1800" dirty="0" err="1" smtClean="0">
                <a:latin typeface="+mn-lt"/>
              </a:rPr>
              <a:t>bila</a:t>
            </a:r>
            <a:r>
              <a:rPr lang="en-US" sz="1800" dirty="0" smtClean="0">
                <a:latin typeface="+mn-lt"/>
              </a:rPr>
              <a:t> :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781908" y="3415352"/>
            <a:ext cx="28264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1. </a:t>
            </a:r>
            <a:r>
              <a:rPr lang="en-US" sz="1800" i="1" dirty="0">
                <a:latin typeface="+mn-lt"/>
              </a:rPr>
              <a:t>f</a:t>
            </a:r>
            <a:r>
              <a:rPr lang="en-US" sz="1800" dirty="0">
                <a:latin typeface="+mn-lt"/>
              </a:rPr>
              <a:t>(</a:t>
            </a:r>
            <a:r>
              <a:rPr lang="en-US" sz="1800" i="1" dirty="0">
                <a:latin typeface="+mn-lt"/>
              </a:rPr>
              <a:t>x</a:t>
            </a:r>
            <a:r>
              <a:rPr lang="en-US" sz="1800" dirty="0">
                <a:latin typeface="+mn-lt"/>
              </a:rPr>
              <a:t>) </a:t>
            </a:r>
            <a:r>
              <a:rPr lang="en-US" sz="1800" dirty="0" err="1">
                <a:latin typeface="+mn-lt"/>
              </a:rPr>
              <a:t>kontinu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pada</a:t>
            </a:r>
            <a:r>
              <a:rPr lang="en-US" sz="1800" dirty="0">
                <a:latin typeface="+mn-lt"/>
              </a:rPr>
              <a:t> ( </a:t>
            </a:r>
            <a:r>
              <a:rPr lang="en-US" sz="1800" i="1" dirty="0" err="1">
                <a:latin typeface="+mn-lt"/>
              </a:rPr>
              <a:t>a,b</a:t>
            </a:r>
            <a:r>
              <a:rPr lang="en-US" sz="1800" dirty="0">
                <a:latin typeface="+mn-lt"/>
              </a:rPr>
              <a:t> )</a:t>
            </a: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1762369" y="3970977"/>
            <a:ext cx="31534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>
                <a:latin typeface="+mn-lt"/>
              </a:rPr>
              <a:t>2. </a:t>
            </a:r>
            <a:r>
              <a:rPr lang="en-US" sz="1800" i="1" dirty="0">
                <a:latin typeface="+mn-lt"/>
              </a:rPr>
              <a:t>f</a:t>
            </a:r>
            <a:r>
              <a:rPr lang="en-US" sz="1800" dirty="0">
                <a:latin typeface="+mn-lt"/>
              </a:rPr>
              <a:t>(</a:t>
            </a:r>
            <a:r>
              <a:rPr lang="en-US" sz="1800" i="1" dirty="0">
                <a:latin typeface="+mn-lt"/>
              </a:rPr>
              <a:t>x</a:t>
            </a:r>
            <a:r>
              <a:rPr lang="en-US" sz="1800" dirty="0">
                <a:latin typeface="+mn-lt"/>
              </a:rPr>
              <a:t>) </a:t>
            </a:r>
            <a:r>
              <a:rPr lang="en-US" sz="1800" dirty="0" err="1">
                <a:latin typeface="+mn-lt"/>
              </a:rPr>
              <a:t>kontinu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kanan</a:t>
            </a:r>
            <a:r>
              <a:rPr lang="en-US" sz="1800" dirty="0">
                <a:latin typeface="+mn-lt"/>
              </a:rPr>
              <a:t> di </a:t>
            </a:r>
            <a:r>
              <a:rPr lang="en-US" sz="1800" i="1" dirty="0">
                <a:latin typeface="+mn-lt"/>
              </a:rPr>
              <a:t>x </a:t>
            </a:r>
            <a:r>
              <a:rPr lang="en-US" sz="1800" dirty="0">
                <a:latin typeface="+mn-lt"/>
              </a:rPr>
              <a:t>= </a:t>
            </a:r>
            <a:r>
              <a:rPr lang="en-US" sz="1800" i="1" dirty="0">
                <a:latin typeface="+mn-lt"/>
              </a:rPr>
              <a:t>a </a:t>
            </a:r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723292" y="4539302"/>
            <a:ext cx="28200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3. </a:t>
            </a:r>
            <a:r>
              <a:rPr lang="en-US" sz="1800" i="1">
                <a:latin typeface="+mn-lt"/>
              </a:rPr>
              <a:t>f</a:t>
            </a:r>
            <a:r>
              <a:rPr lang="en-US" sz="1800">
                <a:latin typeface="+mn-lt"/>
              </a:rPr>
              <a:t>(</a:t>
            </a:r>
            <a:r>
              <a:rPr lang="en-US" sz="1800" i="1">
                <a:latin typeface="+mn-lt"/>
              </a:rPr>
              <a:t>x</a:t>
            </a:r>
            <a:r>
              <a:rPr lang="en-US" sz="1800">
                <a:latin typeface="+mn-lt"/>
              </a:rPr>
              <a:t>) kontinu kiri di </a:t>
            </a:r>
            <a:r>
              <a:rPr lang="en-US" sz="1800" i="1">
                <a:latin typeface="+mn-lt"/>
              </a:rPr>
              <a:t>x</a:t>
            </a:r>
            <a:r>
              <a:rPr lang="en-US" sz="1800">
                <a:latin typeface="+mn-lt"/>
              </a:rPr>
              <a:t> = </a:t>
            </a:r>
            <a:r>
              <a:rPr lang="en-US" sz="1800" i="1">
                <a:latin typeface="+mn-lt"/>
              </a:rPr>
              <a:t>b</a:t>
            </a:r>
            <a:r>
              <a:rPr lang="en-US" sz="1800">
                <a:latin typeface="+mn-lt"/>
              </a:rPr>
              <a:t> </a:t>
            </a: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1139063" y="5137196"/>
            <a:ext cx="90971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Bila </a:t>
            </a:r>
            <a:r>
              <a:rPr lang="en-US" sz="1800" i="1">
                <a:latin typeface="+mn-lt"/>
              </a:rPr>
              <a:t>f</a:t>
            </a:r>
            <a:r>
              <a:rPr lang="en-US" sz="1800">
                <a:latin typeface="+mn-lt"/>
              </a:rPr>
              <a:t>(</a:t>
            </a:r>
            <a:r>
              <a:rPr lang="en-US" sz="1800" i="1">
                <a:latin typeface="+mn-lt"/>
              </a:rPr>
              <a:t>x</a:t>
            </a:r>
            <a:r>
              <a:rPr lang="en-US" sz="1800">
                <a:latin typeface="+mn-lt"/>
              </a:rPr>
              <a:t>) kontinu untuk setiap nilai </a:t>
            </a:r>
            <a:r>
              <a:rPr lang="en-US" sz="1800" i="1">
                <a:latin typeface="+mn-lt"/>
              </a:rPr>
              <a:t>x </a:t>
            </a:r>
            <a:r>
              <a:rPr lang="en-US" sz="1800">
                <a:latin typeface="+mn-lt"/>
                <a:sym typeface="Symbol" pitchFamily="18" charset="2"/>
              </a:rPr>
              <a:t></a:t>
            </a:r>
            <a:r>
              <a:rPr lang="en-US" sz="1800" b="1" i="1">
                <a:latin typeface="+mn-lt"/>
              </a:rPr>
              <a:t> R </a:t>
            </a:r>
            <a:r>
              <a:rPr lang="en-US" sz="1800">
                <a:latin typeface="+mn-lt"/>
              </a:rPr>
              <a:t>maka dikatakan </a:t>
            </a:r>
            <a:r>
              <a:rPr lang="en-US" sz="1800" i="1">
                <a:latin typeface="+mn-lt"/>
              </a:rPr>
              <a:t>f</a:t>
            </a:r>
            <a:r>
              <a:rPr lang="en-US" sz="1800">
                <a:latin typeface="+mn-lt"/>
              </a:rPr>
              <a:t>(</a:t>
            </a:r>
            <a:r>
              <a:rPr lang="en-US" sz="1800" i="1">
                <a:latin typeface="+mn-lt"/>
              </a:rPr>
              <a:t>x</a:t>
            </a:r>
            <a:r>
              <a:rPr lang="en-US" sz="1800">
                <a:latin typeface="+mn-lt"/>
              </a:rPr>
              <a:t>)  kontinu ( dimana-mana ).</a:t>
            </a: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0" y="36190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11274" name="Rectangle 11"/>
          <p:cNvSpPr>
            <a:spLocks noChangeArrowheads="1"/>
          </p:cNvSpPr>
          <p:nvPr/>
        </p:nvSpPr>
        <p:spPr bwMode="auto">
          <a:xfrm>
            <a:off x="0" y="42699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9814367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2" grpId="0"/>
      <p:bldP spid="73734" grpId="0"/>
      <p:bldP spid="737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465292" y="6492875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662EF5CA-A175-4524-8E5C-956A2B1B5B14}" type="slidenum">
              <a:rPr lang="en-US" sz="1200" smtClean="0">
                <a:latin typeface="+mn-lt"/>
              </a:rPr>
              <a:pPr/>
              <a:t>9</a:t>
            </a:fld>
            <a:endParaRPr lang="en-US" sz="1200" dirty="0" smtClean="0">
              <a:latin typeface="+mn-lt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27256"/>
            <a:ext cx="11277600" cy="6172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id-ID" sz="1800" b="1" dirty="0" smtClean="0">
                <a:solidFill>
                  <a:srgbClr val="3333FF"/>
                </a:solidFill>
                <a:latin typeface="+mn-lt"/>
              </a:rPr>
              <a:t>       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Teorema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3.2</a:t>
            </a:r>
          </a:p>
          <a:p>
            <a:pPr marL="609600" indent="-609600" eaLnBrk="1" hangingPunct="1"/>
            <a:r>
              <a:rPr lang="en-US" sz="1800" dirty="0" err="1" smtClean="0">
                <a:latin typeface="+mn-lt"/>
              </a:rPr>
              <a:t>Fungsi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Polinom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dimana-mana</a:t>
            </a:r>
            <a:endParaRPr lang="en-US" sz="1800" dirty="0" smtClean="0">
              <a:latin typeface="+mn-lt"/>
            </a:endParaRPr>
          </a:p>
          <a:p>
            <a:pPr marL="609600" indent="-609600" eaLnBrk="1" hangingPunct="1"/>
            <a:r>
              <a:rPr lang="en-US" sz="1800" dirty="0" err="1" smtClean="0">
                <a:latin typeface="+mn-lt"/>
              </a:rPr>
              <a:t>Fungsi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Rasional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pada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Domainnya</a:t>
            </a:r>
            <a:endParaRPr lang="en-US" sz="1800" dirty="0" smtClean="0">
              <a:latin typeface="+mn-lt"/>
            </a:endParaRPr>
          </a:p>
          <a:p>
            <a:pPr marL="609600" indent="-609600" eaLnBrk="1" hangingPunct="1"/>
            <a:r>
              <a:rPr lang="en-US" sz="1800" dirty="0" err="1" smtClean="0">
                <a:latin typeface="+mn-lt"/>
              </a:rPr>
              <a:t>Misalkan</a:t>
            </a:r>
            <a:r>
              <a:rPr lang="en-US" sz="1800" dirty="0" smtClean="0">
                <a:latin typeface="+mn-lt"/>
              </a:rPr>
              <a:t>      </a:t>
            </a:r>
            <a:r>
              <a:rPr lang="id-ID" sz="1800" dirty="0" smtClean="0">
                <a:latin typeface="+mn-lt"/>
              </a:rPr>
              <a:t>  </a:t>
            </a:r>
            <a:r>
              <a:rPr lang="en-US" sz="1800" dirty="0" smtClean="0">
                <a:latin typeface="+mn-lt"/>
              </a:rPr>
              <a:t>            </a:t>
            </a:r>
            <a:r>
              <a:rPr lang="id-ID" sz="1800" dirty="0" smtClean="0">
                <a:latin typeface="+mn-lt"/>
              </a:rPr>
              <a:t>      </a:t>
            </a:r>
            <a:r>
              <a:rPr lang="en-US" sz="1800" dirty="0" smtClean="0">
                <a:latin typeface="+mn-lt"/>
              </a:rPr>
              <a:t>, </a:t>
            </a:r>
            <a:r>
              <a:rPr lang="en-US" sz="1800" dirty="0" err="1" smtClean="0">
                <a:latin typeface="+mn-lt"/>
              </a:rPr>
              <a:t>maka</a:t>
            </a:r>
            <a:endParaRPr lang="en-US" sz="1800" dirty="0" smtClean="0">
              <a:latin typeface="+mn-lt"/>
            </a:endParaRPr>
          </a:p>
          <a:p>
            <a:pPr marL="990600" lvl="1" indent="-533400" eaLnBrk="1" hangingPunct="1"/>
            <a:r>
              <a:rPr lang="en-US" sz="1800" i="1" dirty="0" smtClean="0">
                <a:latin typeface="+mn-lt"/>
              </a:rPr>
              <a:t>f</a:t>
            </a:r>
            <a:r>
              <a:rPr lang="en-US" sz="1800" dirty="0" smtClean="0">
                <a:latin typeface="+mn-lt"/>
              </a:rPr>
              <a:t>(x)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en-US" sz="1800" dirty="0" smtClean="0">
                <a:latin typeface="+mn-lt"/>
              </a:rPr>
              <a:t> di </a:t>
            </a:r>
            <a:r>
              <a:rPr lang="en-US" sz="1800" dirty="0" err="1" smtClean="0">
                <a:latin typeface="+mn-lt"/>
              </a:rPr>
              <a:t>setiap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titik</a:t>
            </a:r>
            <a:r>
              <a:rPr lang="en-US" sz="1800" dirty="0" smtClean="0">
                <a:latin typeface="+mn-lt"/>
              </a:rPr>
              <a:t> di </a:t>
            </a:r>
            <a:r>
              <a:rPr lang="en-US" sz="1800" b="1" i="1" dirty="0" smtClean="0">
                <a:latin typeface="+mn-lt"/>
              </a:rPr>
              <a:t>R</a:t>
            </a:r>
            <a:r>
              <a:rPr lang="en-US" sz="1800" b="1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jika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i="1" dirty="0" smtClean="0">
                <a:latin typeface="+mn-lt"/>
              </a:rPr>
              <a:t>n </a:t>
            </a:r>
            <a:r>
              <a:rPr lang="en-US" sz="1800" dirty="0" err="1" smtClean="0">
                <a:latin typeface="+mn-lt"/>
              </a:rPr>
              <a:t>ganjil</a:t>
            </a:r>
            <a:endParaRPr lang="en-US" sz="1800" dirty="0" smtClean="0">
              <a:latin typeface="+mn-lt"/>
            </a:endParaRPr>
          </a:p>
          <a:p>
            <a:pPr marL="990600" lvl="1" indent="-533400" eaLnBrk="1" hangingPunct="1"/>
            <a:r>
              <a:rPr lang="en-US" sz="1800" i="1" dirty="0" smtClean="0">
                <a:latin typeface="+mn-lt"/>
              </a:rPr>
              <a:t>f</a:t>
            </a:r>
            <a:r>
              <a:rPr lang="en-US" sz="1800" dirty="0" smtClean="0">
                <a:latin typeface="+mn-lt"/>
              </a:rPr>
              <a:t>(</a:t>
            </a:r>
            <a:r>
              <a:rPr lang="en-US" sz="1800" i="1" dirty="0" smtClean="0">
                <a:latin typeface="+mn-lt"/>
              </a:rPr>
              <a:t>x</a:t>
            </a:r>
            <a:r>
              <a:rPr lang="en-US" sz="1800" dirty="0" smtClean="0">
                <a:latin typeface="+mn-lt"/>
              </a:rPr>
              <a:t>)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en-US" sz="1800" dirty="0" smtClean="0">
                <a:latin typeface="+mn-lt"/>
              </a:rPr>
              <a:t> di </a:t>
            </a:r>
            <a:r>
              <a:rPr lang="en-US" sz="1800" dirty="0" err="1" smtClean="0">
                <a:latin typeface="+mn-lt"/>
              </a:rPr>
              <a:t>setiap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b="1" i="1" dirty="0" smtClean="0">
                <a:latin typeface="+mn-lt"/>
              </a:rPr>
              <a:t>R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positif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jika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i="1" dirty="0" smtClean="0">
                <a:latin typeface="+mn-lt"/>
              </a:rPr>
              <a:t>n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genap</a:t>
            </a:r>
            <a:r>
              <a:rPr lang="en-US" sz="1800" dirty="0" smtClean="0">
                <a:latin typeface="+mn-lt"/>
              </a:rPr>
              <a:t>.</a:t>
            </a: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1800" dirty="0" err="1" smtClean="0">
                <a:latin typeface="+mn-lt"/>
              </a:rPr>
              <a:t>Contoh</a:t>
            </a:r>
            <a:r>
              <a:rPr lang="en-US" sz="1800" dirty="0" smtClean="0">
                <a:latin typeface="+mn-lt"/>
              </a:rPr>
              <a:t> : </a:t>
            </a:r>
            <a:r>
              <a:rPr lang="en-US" sz="1800" dirty="0" err="1" smtClean="0">
                <a:latin typeface="+mn-lt"/>
              </a:rPr>
              <a:t>tentukan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selang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kekontinuan</a:t>
            </a:r>
            <a:endParaRPr lang="en-US" sz="1800" dirty="0" smtClean="0">
              <a:latin typeface="+mn-lt"/>
            </a:endParaRP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1800" dirty="0" smtClean="0">
                <a:latin typeface="+mn-lt"/>
              </a:rPr>
              <a:t>Dari </a:t>
            </a:r>
            <a:r>
              <a:rPr lang="en-US" sz="1800" dirty="0" err="1" smtClean="0">
                <a:latin typeface="+mn-lt"/>
              </a:rPr>
              <a:t>teorema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diatas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diperoleh</a:t>
            </a:r>
            <a:r>
              <a:rPr lang="en-US" sz="1800" dirty="0" smtClean="0">
                <a:latin typeface="+mn-lt"/>
              </a:rPr>
              <a:t> f(x)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untuk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x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–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4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&gt;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0 </a:t>
            </a:r>
            <a:r>
              <a:rPr lang="en-US" sz="1800" dirty="0" err="1" smtClean="0">
                <a:latin typeface="+mn-lt"/>
              </a:rPr>
              <a:t>atau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x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&gt;</a:t>
            </a:r>
            <a:r>
              <a:rPr lang="id-ID" sz="1800" dirty="0" smtClean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4</a:t>
            </a:r>
            <a:r>
              <a:rPr lang="en-US" sz="1800" dirty="0" smtClean="0">
                <a:latin typeface="+mn-lt"/>
              </a:rPr>
              <a:t>.</a:t>
            </a: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1800" dirty="0" smtClean="0">
                <a:latin typeface="+mn-lt"/>
              </a:rPr>
              <a:t>                                                                </a:t>
            </a:r>
            <a:r>
              <a:rPr lang="id-ID" sz="1800" dirty="0" smtClean="0">
                <a:latin typeface="+mn-lt"/>
              </a:rPr>
              <a:t>                         </a:t>
            </a:r>
            <a:r>
              <a:rPr lang="en-US" sz="1800" dirty="0" smtClean="0">
                <a:latin typeface="+mn-lt"/>
              </a:rPr>
              <a:t>f(x</a:t>
            </a:r>
            <a:r>
              <a:rPr lang="en-US" sz="1800" dirty="0" smtClean="0">
                <a:latin typeface="+mn-lt"/>
              </a:rPr>
              <a:t>)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kanan</a:t>
            </a:r>
            <a:r>
              <a:rPr lang="en-US" sz="1800" dirty="0" smtClean="0">
                <a:latin typeface="+mn-lt"/>
              </a:rPr>
              <a:t> di x=4</a:t>
            </a: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1800" dirty="0" err="1" smtClean="0">
                <a:latin typeface="+mn-lt"/>
              </a:rPr>
              <a:t>Sehingga</a:t>
            </a:r>
            <a:r>
              <a:rPr lang="en-US" sz="1800" dirty="0" smtClean="0">
                <a:latin typeface="+mn-lt"/>
              </a:rPr>
              <a:t> f(x) </a:t>
            </a:r>
            <a:r>
              <a:rPr lang="en-US" sz="1800" dirty="0" err="1" smtClean="0">
                <a:latin typeface="+mn-lt"/>
              </a:rPr>
              <a:t>kontinu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pada</a:t>
            </a:r>
            <a:r>
              <a:rPr lang="en-US" sz="1800" dirty="0" smtClean="0">
                <a:latin typeface="+mn-lt"/>
              </a:rPr>
              <a:t> [4,  </a:t>
            </a:r>
            <a:r>
              <a:rPr lang="id-ID" sz="1800" dirty="0" smtClean="0">
                <a:latin typeface="+mn-lt"/>
              </a:rPr>
              <a:t>  </a:t>
            </a:r>
            <a:r>
              <a:rPr lang="en-US" sz="1800" dirty="0" smtClean="0">
                <a:latin typeface="+mn-lt"/>
              </a:rPr>
              <a:t>   </a:t>
            </a:r>
            <a:r>
              <a:rPr lang="en-US" sz="1800" dirty="0" smtClean="0">
                <a:latin typeface="+mn-lt"/>
              </a:rPr>
              <a:t>)</a:t>
            </a: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526828"/>
              </p:ext>
            </p:extLst>
          </p:nvPr>
        </p:nvGraphicFramePr>
        <p:xfrm>
          <a:off x="2197627" y="2858178"/>
          <a:ext cx="1555495" cy="39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quation" r:id="rId3" imgW="698500" imgH="241300" progId="Equation.3">
                  <p:embed/>
                </p:oleObj>
              </mc:Choice>
              <mc:Fallback>
                <p:oleObj name="Equation" r:id="rId3" imgW="6985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627" y="2858178"/>
                        <a:ext cx="1555495" cy="399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Rectangle 19"/>
          <p:cNvSpPr>
            <a:spLocks noChangeArrowheads="1"/>
          </p:cNvSpPr>
          <p:nvPr/>
        </p:nvSpPr>
        <p:spPr bwMode="auto">
          <a:xfrm>
            <a:off x="0" y="376672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747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484167"/>
              </p:ext>
            </p:extLst>
          </p:nvPr>
        </p:nvGraphicFramePr>
        <p:xfrm>
          <a:off x="5064800" y="4064769"/>
          <a:ext cx="1875692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Equation" r:id="rId5" imgW="914400" imgH="241300" progId="Equation.3">
                  <p:embed/>
                </p:oleObj>
              </mc:Choice>
              <mc:Fallback>
                <p:oleObj name="Equation" r:id="rId5" imgW="9144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800" y="4064769"/>
                        <a:ext cx="1875692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21"/>
          <p:cNvSpPr>
            <a:spLocks noChangeArrowheads="1"/>
          </p:cNvSpPr>
          <p:nvPr/>
        </p:nvSpPr>
        <p:spPr bwMode="auto">
          <a:xfrm>
            <a:off x="0" y="37333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747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619323"/>
              </p:ext>
            </p:extLst>
          </p:nvPr>
        </p:nvGraphicFramePr>
        <p:xfrm>
          <a:off x="1118555" y="5106545"/>
          <a:ext cx="415583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Equation" r:id="rId7" imgW="2082800" imgH="304800" progId="Equation.3">
                  <p:embed/>
                </p:oleObj>
              </mc:Choice>
              <mc:Fallback>
                <p:oleObj name="Equation" r:id="rId7" imgW="20828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555" y="5106545"/>
                        <a:ext cx="415583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4" name="AutoShape 22"/>
          <p:cNvSpPr>
            <a:spLocks noChangeArrowheads="1"/>
          </p:cNvSpPr>
          <p:nvPr/>
        </p:nvSpPr>
        <p:spPr bwMode="auto">
          <a:xfrm>
            <a:off x="5418163" y="5167962"/>
            <a:ext cx="968991" cy="366831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sp>
        <p:nvSpPr>
          <p:cNvPr id="12298" name="Rectangle 24"/>
          <p:cNvSpPr>
            <a:spLocks noChangeArrowheads="1"/>
          </p:cNvSpPr>
          <p:nvPr/>
        </p:nvSpPr>
        <p:spPr bwMode="auto">
          <a:xfrm>
            <a:off x="0" y="382387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latin typeface="+mn-lt"/>
            </a:endParaRPr>
          </a:p>
        </p:txBody>
      </p:sp>
      <p:graphicFrame>
        <p:nvGraphicFramePr>
          <p:cNvPr id="747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578550"/>
              </p:ext>
            </p:extLst>
          </p:nvPr>
        </p:nvGraphicFramePr>
        <p:xfrm>
          <a:off x="4241421" y="5734915"/>
          <a:ext cx="385170" cy="254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9" imgW="152202" imgH="126835" progId="Equation.3">
                  <p:embed/>
                </p:oleObj>
              </mc:Choice>
              <mc:Fallback>
                <p:oleObj name="Equation" r:id="rId9" imgW="152202" imgH="126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421" y="5734915"/>
                        <a:ext cx="385170" cy="254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4014725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7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7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519883" y="6492838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A5DCDFBE-565B-47B9-8BD0-9F422267CA4C}" type="slidenum">
              <a:rPr lang="en-US" sz="1200" smtClean="0">
                <a:latin typeface="+mn-lt"/>
              </a:rPr>
              <a:pPr/>
              <a:t>10</a:t>
            </a:fld>
            <a:endParaRPr lang="en-US" sz="1200" dirty="0" smtClean="0">
              <a:latin typeface="+mn-lt"/>
            </a:endParaRPr>
          </a:p>
        </p:txBody>
      </p:sp>
      <p:graphicFrame>
        <p:nvGraphicFramePr>
          <p:cNvPr id="2703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280465"/>
              </p:ext>
            </p:extLst>
          </p:nvPr>
        </p:nvGraphicFramePr>
        <p:xfrm>
          <a:off x="2229339" y="2233696"/>
          <a:ext cx="21785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Equation" r:id="rId3" imgW="977476" imgH="444307" progId="Equation.3">
                  <p:embed/>
                </p:oleObj>
              </mc:Choice>
              <mc:Fallback>
                <p:oleObj name="Equation" r:id="rId3" imgW="977476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9339" y="2233696"/>
                        <a:ext cx="217853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245905"/>
              </p:ext>
            </p:extLst>
          </p:nvPr>
        </p:nvGraphicFramePr>
        <p:xfrm>
          <a:off x="2250831" y="3148097"/>
          <a:ext cx="196947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5" imgW="914400" imgH="469900" progId="Equation.3">
                  <p:embed/>
                </p:oleObj>
              </mc:Choice>
              <mc:Fallback>
                <p:oleObj name="Equation" r:id="rId5" imgW="914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831" y="3148097"/>
                        <a:ext cx="196947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254071"/>
              </p:ext>
            </p:extLst>
          </p:nvPr>
        </p:nvGraphicFramePr>
        <p:xfrm>
          <a:off x="5533292" y="2309896"/>
          <a:ext cx="178190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Equation" r:id="rId7" imgW="838200" imgH="419100" progId="Equation.3">
                  <p:embed/>
                </p:oleObj>
              </mc:Choice>
              <mc:Fallback>
                <p:oleObj name="Equation" r:id="rId7" imgW="838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3292" y="2309896"/>
                        <a:ext cx="178190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537472"/>
              </p:ext>
            </p:extLst>
          </p:nvPr>
        </p:nvGraphicFramePr>
        <p:xfrm>
          <a:off x="2438400" y="4672096"/>
          <a:ext cx="2719754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Equation" r:id="rId9" imgW="1231366" imgH="431613" progId="Equation.3">
                  <p:embed/>
                </p:oleObj>
              </mc:Choice>
              <mc:Fallback>
                <p:oleObj name="Equation" r:id="rId9" imgW="123136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672096"/>
                        <a:ext cx="2719754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351846"/>
              </p:ext>
            </p:extLst>
          </p:nvPr>
        </p:nvGraphicFramePr>
        <p:xfrm>
          <a:off x="2344615" y="5662696"/>
          <a:ext cx="253218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Equation" r:id="rId11" imgW="1066337" imgH="266584" progId="Equation.3">
                  <p:embed/>
                </p:oleObj>
              </mc:Choice>
              <mc:Fallback>
                <p:oleObj name="Equation" r:id="rId11" imgW="1066337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615" y="5662696"/>
                        <a:ext cx="253218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5" name="Rectangle 9"/>
          <p:cNvSpPr>
            <a:spLocks noChangeArrowheads="1"/>
          </p:cNvSpPr>
          <p:nvPr/>
        </p:nvSpPr>
        <p:spPr bwMode="auto">
          <a:xfrm>
            <a:off x="1973461" y="1790269"/>
            <a:ext cx="3903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800">
                <a:latin typeface="+mn-lt"/>
                <a:cs typeface="Times New Roman" pitchFamily="18" charset="0"/>
              </a:rPr>
              <a:t>A. Carilah titik diskontinu dari fungsi </a:t>
            </a:r>
            <a:endParaRPr lang="en-US" sz="1800">
              <a:latin typeface="+mn-lt"/>
            </a:endParaRPr>
          </a:p>
        </p:txBody>
      </p:sp>
      <p:sp>
        <p:nvSpPr>
          <p:cNvPr id="270348" name="Rectangle 12"/>
          <p:cNvSpPr>
            <a:spLocks noChangeArrowheads="1"/>
          </p:cNvSpPr>
          <p:nvPr/>
        </p:nvSpPr>
        <p:spPr bwMode="auto">
          <a:xfrm>
            <a:off x="1884823" y="4228669"/>
            <a:ext cx="36471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800">
                <a:latin typeface="+mn-lt"/>
                <a:cs typeface="Times New Roman" pitchFamily="18" charset="0"/>
              </a:rPr>
              <a:t>B. Tentukan dimana  </a:t>
            </a:r>
            <a:r>
              <a:rPr lang="en-US" sz="1800" i="1">
                <a:latin typeface="+mn-lt"/>
                <a:cs typeface="Times New Roman" pitchFamily="18" charset="0"/>
              </a:rPr>
              <a:t>f(x)</a:t>
            </a:r>
            <a:r>
              <a:rPr lang="en-US" sz="1800">
                <a:latin typeface="+mn-lt"/>
                <a:cs typeface="Times New Roman" pitchFamily="18" charset="0"/>
              </a:rPr>
              <a:t> kontinu  </a:t>
            </a:r>
            <a:endParaRPr lang="en-US" sz="1800">
              <a:latin typeface="+mn-lt"/>
            </a:endParaRPr>
          </a:p>
        </p:txBody>
      </p:sp>
      <p:sp>
        <p:nvSpPr>
          <p:cNvPr id="270350" name="Text Box 14"/>
          <p:cNvSpPr txBox="1">
            <a:spLocks noChangeArrowheads="1"/>
          </p:cNvSpPr>
          <p:nvPr/>
        </p:nvSpPr>
        <p:spPr bwMode="auto">
          <a:xfrm>
            <a:off x="1086339" y="1303422"/>
            <a:ext cx="146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Soal Latihan</a:t>
            </a:r>
          </a:p>
        </p:txBody>
      </p:sp>
      <p:sp>
        <p:nvSpPr>
          <p:cNvPr id="270351" name="Text Box 15"/>
          <p:cNvSpPr txBox="1">
            <a:spLocks noChangeArrowheads="1"/>
          </p:cNvSpPr>
          <p:nvPr/>
        </p:nvSpPr>
        <p:spPr bwMode="auto">
          <a:xfrm>
            <a:off x="1781908" y="2508335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1.</a:t>
            </a:r>
          </a:p>
        </p:txBody>
      </p:sp>
      <p:sp>
        <p:nvSpPr>
          <p:cNvPr id="270352" name="Text Box 16"/>
          <p:cNvSpPr txBox="1">
            <a:spLocks noChangeArrowheads="1"/>
          </p:cNvSpPr>
          <p:nvPr/>
        </p:nvSpPr>
        <p:spPr bwMode="auto">
          <a:xfrm>
            <a:off x="1781908" y="3383047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2.</a:t>
            </a:r>
          </a:p>
        </p:txBody>
      </p:sp>
      <p:sp>
        <p:nvSpPr>
          <p:cNvPr id="270353" name="Text Box 17"/>
          <p:cNvSpPr txBox="1">
            <a:spLocks noChangeArrowheads="1"/>
          </p:cNvSpPr>
          <p:nvPr/>
        </p:nvSpPr>
        <p:spPr bwMode="auto">
          <a:xfrm>
            <a:off x="5062416" y="2494047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3.</a:t>
            </a:r>
          </a:p>
        </p:txBody>
      </p:sp>
      <p:sp>
        <p:nvSpPr>
          <p:cNvPr id="270354" name="Text Box 18"/>
          <p:cNvSpPr txBox="1">
            <a:spLocks noChangeArrowheads="1"/>
          </p:cNvSpPr>
          <p:nvPr/>
        </p:nvSpPr>
        <p:spPr bwMode="auto">
          <a:xfrm>
            <a:off x="1856154" y="4830847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1.</a:t>
            </a:r>
          </a:p>
        </p:txBody>
      </p:sp>
      <p:sp>
        <p:nvSpPr>
          <p:cNvPr id="270355" name="Text Box 19"/>
          <p:cNvSpPr txBox="1">
            <a:spLocks noChangeArrowheads="1"/>
          </p:cNvSpPr>
          <p:nvPr/>
        </p:nvSpPr>
        <p:spPr bwMode="auto">
          <a:xfrm>
            <a:off x="1817078" y="5745247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80561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7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7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7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7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7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7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7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7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5" grpId="0"/>
      <p:bldP spid="270348" grpId="0"/>
      <p:bldP spid="270350" grpId="0"/>
      <p:bldP spid="270351" grpId="0"/>
      <p:bldP spid="270352" grpId="0"/>
      <p:bldP spid="270353" grpId="0"/>
      <p:bldP spid="270354" grpId="0"/>
      <p:bldP spid="2703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437997" y="6492875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74AD04D0-F31B-491B-AE54-E55777B7854B}" type="slidenum">
              <a:rPr lang="en-US" sz="1200" smtClean="0">
                <a:latin typeface="+mn-lt"/>
              </a:rPr>
              <a:pPr/>
              <a:t>11</a:t>
            </a:fld>
            <a:endParaRPr lang="en-US" sz="1200" smtClean="0">
              <a:latin typeface="+mn-lt"/>
            </a:endParaRPr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562708" y="1115720"/>
            <a:ext cx="10972800" cy="838200"/>
          </a:xfrm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Limit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dan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Kekontinuan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Fungsi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Komposisi</a:t>
            </a:r>
            <a:endParaRPr lang="en-US" sz="1800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0048" y="1733266"/>
            <a:ext cx="11785600" cy="5697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Teorema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Limit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Fungsi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Komposisi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     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Jika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id-ID" sz="18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                      </a:t>
            </a:r>
            <a:r>
              <a:rPr lang="id-ID" sz="1800" dirty="0" smtClean="0">
                <a:solidFill>
                  <a:schemeClr val="tx1"/>
                </a:solidFill>
                <a:latin typeface="+mn-lt"/>
              </a:rPr>
              <a:t>    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dan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f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x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)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kontinu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di 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L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maka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sz="1800" dirty="0" smtClean="0">
              <a:solidFill>
                <a:schemeClr val="tx1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</a:pPr>
            <a:endParaRPr lang="id-ID" sz="1800" b="1" dirty="0" smtClean="0">
              <a:solidFill>
                <a:schemeClr val="tx1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Teorema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kekontinuan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fungsi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+mn-lt"/>
              </a:rPr>
              <a:t>komposisi</a:t>
            </a:r>
            <a:r>
              <a:rPr lang="en-US" sz="1800" b="1" dirty="0" smtClean="0">
                <a:solidFill>
                  <a:schemeClr val="tx1"/>
                </a:solidFill>
                <a:latin typeface="+mn-lt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  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Jika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g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x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)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kontinu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di 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f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x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)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kontinu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di 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g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),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maka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fungsi</a:t>
            </a:r>
            <a:r>
              <a:rPr lang="id-ID" sz="18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                </a:t>
            </a:r>
            <a:r>
              <a:rPr lang="id-ID" sz="1800" dirty="0" smtClean="0">
                <a:solidFill>
                  <a:schemeClr val="tx1"/>
                </a:solidFill>
                <a:latin typeface="+mn-lt"/>
              </a:rPr>
              <a:t>    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</a:rPr>
              <a:t>kontinu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di 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a.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    </a:t>
            </a:r>
            <a:r>
              <a:rPr lang="en-US" sz="1800" i="1" dirty="0" err="1" smtClean="0">
                <a:solidFill>
                  <a:schemeClr val="tx1"/>
                </a:solidFill>
                <a:latin typeface="+mn-lt"/>
              </a:rPr>
              <a:t>Bukti</a:t>
            </a:r>
            <a:r>
              <a:rPr lang="en-US" sz="1800" i="1" dirty="0" smtClean="0">
                <a:solidFill>
                  <a:schemeClr val="tx1"/>
                </a:solidFill>
                <a:latin typeface="+mn-lt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b="1" dirty="0" smtClean="0">
              <a:solidFill>
                <a:schemeClr val="tx1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                                                                 </a:t>
            </a:r>
            <a:r>
              <a:rPr lang="id-ID" sz="1800" dirty="0" smtClean="0">
                <a:solidFill>
                  <a:schemeClr val="tx1"/>
                </a:solidFill>
                <a:latin typeface="+mn-lt"/>
              </a:rPr>
              <a:t>               </a:t>
            </a:r>
            <a:endParaRPr lang="en-US" sz="1800" dirty="0" smtClean="0">
              <a:solidFill>
                <a:schemeClr val="tx1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				 </a:t>
            </a:r>
            <a:r>
              <a:rPr lang="id-ID" sz="1800" dirty="0" smtClean="0">
                <a:solidFill>
                  <a:schemeClr val="tx1"/>
                </a:solidFill>
                <a:latin typeface="+mn-lt"/>
              </a:rPr>
              <a:t>        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= </a:t>
            </a:r>
            <a:r>
              <a:rPr lang="en-US" sz="1800" dirty="0" smtClean="0">
                <a:solidFill>
                  <a:schemeClr val="tx1"/>
                </a:solidFill>
                <a:latin typeface="+mn-lt"/>
              </a:rPr>
              <a:t>(fog)(a)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399334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253143"/>
              </p:ext>
            </p:extLst>
          </p:nvPr>
        </p:nvGraphicFramePr>
        <p:xfrm>
          <a:off x="1612618" y="2252174"/>
          <a:ext cx="1894851" cy="484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1" name="Equation" r:id="rId3" imgW="812447" imgH="279279" progId="Equation.3">
                  <p:embed/>
                </p:oleObj>
              </mc:Choice>
              <mc:Fallback>
                <p:oleObj name="Equation" r:id="rId3" imgW="812447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618" y="2252174"/>
                        <a:ext cx="1894851" cy="484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182766"/>
              </p:ext>
            </p:extLst>
          </p:nvPr>
        </p:nvGraphicFramePr>
        <p:xfrm>
          <a:off x="1598651" y="2954752"/>
          <a:ext cx="4679316" cy="465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2" name="Equation" r:id="rId5" imgW="2082800" imgH="279400" progId="Equation.3">
                  <p:embed/>
                </p:oleObj>
              </mc:Choice>
              <mc:Fallback>
                <p:oleObj name="Equation" r:id="rId5" imgW="20828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51" y="2954752"/>
                        <a:ext cx="4679316" cy="465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9"/>
          <p:cNvSpPr>
            <a:spLocks noChangeArrowheads="1"/>
          </p:cNvSpPr>
          <p:nvPr/>
        </p:nvSpPr>
        <p:spPr bwMode="auto">
          <a:xfrm>
            <a:off x="0" y="405525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757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261711"/>
              </p:ext>
            </p:extLst>
          </p:nvPr>
        </p:nvGraphicFramePr>
        <p:xfrm>
          <a:off x="6516071" y="4189413"/>
          <a:ext cx="13843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3" name="Equation" r:id="rId7" imgW="596880" imgH="190440" progId="Equation.3">
                  <p:embed/>
                </p:oleObj>
              </mc:Choice>
              <mc:Fallback>
                <p:oleObj name="Equation" r:id="rId7" imgW="5968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071" y="4189413"/>
                        <a:ext cx="13843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21"/>
          <p:cNvSpPr>
            <a:spLocks noChangeArrowheads="1"/>
          </p:cNvSpPr>
          <p:nvPr/>
        </p:nvSpPr>
        <p:spPr bwMode="auto">
          <a:xfrm>
            <a:off x="0" y="399334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757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015660"/>
              </p:ext>
            </p:extLst>
          </p:nvPr>
        </p:nvGraphicFramePr>
        <p:xfrm>
          <a:off x="1985397" y="4889012"/>
          <a:ext cx="3719367" cy="47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Equation" r:id="rId9" imgW="1739900" imgH="279400" progId="Equation.3">
                  <p:embed/>
                </p:oleObj>
              </mc:Choice>
              <mc:Fallback>
                <p:oleObj name="Equation" r:id="rId9" imgW="17399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397" y="4889012"/>
                        <a:ext cx="3719367" cy="479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Rectangle 23"/>
          <p:cNvSpPr>
            <a:spLocks noChangeArrowheads="1"/>
          </p:cNvSpPr>
          <p:nvPr/>
        </p:nvSpPr>
        <p:spPr bwMode="auto">
          <a:xfrm>
            <a:off x="0" y="399334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 sz="180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757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915120"/>
              </p:ext>
            </p:extLst>
          </p:nvPr>
        </p:nvGraphicFramePr>
        <p:xfrm>
          <a:off x="3774481" y="5302250"/>
          <a:ext cx="19653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" name="Equation" r:id="rId11" imgW="838080" imgH="279360" progId="Equation.3">
                  <p:embed/>
                </p:oleObj>
              </mc:Choice>
              <mc:Fallback>
                <p:oleObj name="Equation" r:id="rId11" imgW="8380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4481" y="5302250"/>
                        <a:ext cx="19653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780313" y="5330153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</a:rPr>
              <a:t>karena</a:t>
            </a:r>
            <a:r>
              <a:rPr lang="en-US" sz="1800" dirty="0">
                <a:solidFill>
                  <a:schemeClr val="tx1"/>
                </a:solidFill>
              </a:rPr>
              <a:t> f </a:t>
            </a:r>
            <a:r>
              <a:rPr lang="en-US" sz="1800" dirty="0" err="1">
                <a:solidFill>
                  <a:schemeClr val="tx1"/>
                </a:solidFill>
              </a:rPr>
              <a:t>kontinu</a:t>
            </a:r>
            <a:r>
              <a:rPr lang="en-US" sz="1800" dirty="0">
                <a:solidFill>
                  <a:schemeClr val="tx1"/>
                </a:solidFill>
              </a:rPr>
              <a:t> di g(a)</a:t>
            </a:r>
            <a:endParaRPr lang="id-ID" sz="1800" dirty="0"/>
          </a:p>
        </p:txBody>
      </p:sp>
      <p:sp>
        <p:nvSpPr>
          <p:cNvPr id="15" name="TextBox 14"/>
          <p:cNvSpPr txBox="1"/>
          <p:nvPr/>
        </p:nvSpPr>
        <p:spPr>
          <a:xfrm>
            <a:off x="3735423" y="5699485"/>
            <a:ext cx="4589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= f(g(a</a:t>
            </a:r>
            <a:r>
              <a:rPr lang="en-US" sz="1800" dirty="0" smtClean="0">
                <a:solidFill>
                  <a:schemeClr val="tx1"/>
                </a:solidFill>
              </a:rPr>
              <a:t>))</a:t>
            </a:r>
            <a:r>
              <a:rPr lang="id-ID" sz="1800" dirty="0" smtClean="0">
                <a:solidFill>
                  <a:schemeClr val="tx1"/>
                </a:solidFill>
              </a:rPr>
              <a:t>                    </a:t>
            </a:r>
            <a:r>
              <a:rPr lang="en-US" sz="1800" dirty="0" err="1" smtClean="0">
                <a:solidFill>
                  <a:schemeClr val="tx1"/>
                </a:solidFill>
              </a:rPr>
              <a:t>karena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g </a:t>
            </a:r>
            <a:r>
              <a:rPr lang="en-US" sz="1800" dirty="0" err="1">
                <a:solidFill>
                  <a:schemeClr val="tx1"/>
                </a:solidFill>
              </a:rPr>
              <a:t>kontinu</a:t>
            </a:r>
            <a:r>
              <a:rPr lang="en-US" sz="1800" dirty="0">
                <a:solidFill>
                  <a:schemeClr val="tx1"/>
                </a:solidFill>
              </a:rPr>
              <a:t> di a</a:t>
            </a:r>
          </a:p>
          <a:p>
            <a:r>
              <a:rPr lang="id-ID" sz="1800" dirty="0" smtClean="0">
                <a:solidFill>
                  <a:schemeClr val="tx1"/>
                </a:solidFill>
              </a:rPr>
              <a:t> </a:t>
            </a:r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2494452944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2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553264" y="6492875"/>
            <a:ext cx="47836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fld id="{E8CB150A-F95E-4BD0-8CD8-D526868E14AE}" type="slidenum">
              <a:rPr lang="en-US" sz="1200" smtClean="0">
                <a:latin typeface="+mn-lt"/>
              </a:rPr>
              <a:pPr/>
              <a:t>12</a:t>
            </a:fld>
            <a:endParaRPr lang="en-US" sz="1200" dirty="0" smtClean="0">
              <a:latin typeface="+mn-lt"/>
            </a:endParaRPr>
          </a:p>
        </p:txBody>
      </p:sp>
      <p:graphicFrame>
        <p:nvGraphicFramePr>
          <p:cNvPr id="2560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864897"/>
              </p:ext>
            </p:extLst>
          </p:nvPr>
        </p:nvGraphicFramePr>
        <p:xfrm>
          <a:off x="2063261" y="1812392"/>
          <a:ext cx="3470031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3" imgW="1536700" imgH="482600" progId="Equation.3">
                  <p:embed/>
                </p:oleObj>
              </mc:Choice>
              <mc:Fallback>
                <p:oleObj name="Equation" r:id="rId3" imgW="15367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261" y="1812392"/>
                        <a:ext cx="3470031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009376"/>
              </p:ext>
            </p:extLst>
          </p:nvPr>
        </p:nvGraphicFramePr>
        <p:xfrm>
          <a:off x="2278127" y="3957856"/>
          <a:ext cx="2641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5" imgW="1079032" imgH="203112" progId="Equation.3">
                  <p:embed/>
                </p:oleObj>
              </mc:Choice>
              <mc:Fallback>
                <p:oleObj name="Equation" r:id="rId5" imgW="107903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127" y="3957856"/>
                        <a:ext cx="2641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652844"/>
              </p:ext>
            </p:extLst>
          </p:nvPr>
        </p:nvGraphicFramePr>
        <p:xfrm>
          <a:off x="2934620" y="4643656"/>
          <a:ext cx="243449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Equation" r:id="rId7" imgW="1155700" imgH="419100" progId="Equation.3">
                  <p:embed/>
                </p:oleObj>
              </mc:Choice>
              <mc:Fallback>
                <p:oleObj name="Equation" r:id="rId7" imgW="1155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620" y="4643656"/>
                        <a:ext cx="2434492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7" name="Text Box 7"/>
          <p:cNvSpPr txBox="1">
            <a:spLocks noChangeArrowheads="1"/>
          </p:cNvSpPr>
          <p:nvPr/>
        </p:nvSpPr>
        <p:spPr bwMode="auto">
          <a:xfrm>
            <a:off x="5560589" y="4796056"/>
            <a:ext cx="18966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 dan </a:t>
            </a:r>
            <a:r>
              <a:rPr lang="en-US" sz="1800" i="1">
                <a:latin typeface="+mn-lt"/>
              </a:rPr>
              <a:t>g</a:t>
            </a:r>
            <a:r>
              <a:rPr lang="en-US" sz="1800">
                <a:latin typeface="+mn-lt"/>
              </a:rPr>
              <a:t>(</a:t>
            </a:r>
            <a:r>
              <a:rPr lang="en-US" sz="1800" i="1">
                <a:latin typeface="+mn-lt"/>
              </a:rPr>
              <a:t>x</a:t>
            </a:r>
            <a:r>
              <a:rPr lang="en-US" sz="1800">
                <a:latin typeface="+mn-lt"/>
              </a:rPr>
              <a:t>) = cos </a:t>
            </a:r>
            <a:r>
              <a:rPr lang="en-US" sz="1800" i="1">
                <a:latin typeface="+mn-lt"/>
              </a:rPr>
              <a:t>x</a:t>
            </a:r>
            <a:endParaRPr lang="en-US" sz="1800">
              <a:latin typeface="+mn-lt"/>
            </a:endParaRPr>
          </a:p>
        </p:txBody>
      </p:sp>
      <p:sp>
        <p:nvSpPr>
          <p:cNvPr id="256008" name="Text Box 8"/>
          <p:cNvSpPr txBox="1">
            <a:spLocks noChangeArrowheads="1"/>
          </p:cNvSpPr>
          <p:nvPr/>
        </p:nvSpPr>
        <p:spPr bwMode="auto">
          <a:xfrm>
            <a:off x="918308" y="1347254"/>
            <a:ext cx="35830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Contoh: Tentukan dimana fungsi </a:t>
            </a:r>
          </a:p>
        </p:txBody>
      </p:sp>
      <p:sp>
        <p:nvSpPr>
          <p:cNvPr id="256009" name="Text Box 9"/>
          <p:cNvSpPr txBox="1">
            <a:spLocks noChangeArrowheads="1"/>
          </p:cNvSpPr>
          <p:nvPr/>
        </p:nvSpPr>
        <p:spPr bwMode="auto">
          <a:xfrm>
            <a:off x="5627077" y="1950505"/>
            <a:ext cx="9284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kontinu</a:t>
            </a:r>
          </a:p>
        </p:txBody>
      </p:sp>
      <p:sp>
        <p:nvSpPr>
          <p:cNvPr id="256010" name="Text Box 10"/>
          <p:cNvSpPr txBox="1">
            <a:spLocks noChangeArrowheads="1"/>
          </p:cNvSpPr>
          <p:nvPr/>
        </p:nvSpPr>
        <p:spPr bwMode="auto">
          <a:xfrm>
            <a:off x="1031631" y="3017305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Jawab : </a:t>
            </a:r>
          </a:p>
        </p:txBody>
      </p:sp>
      <p:sp>
        <p:nvSpPr>
          <p:cNvPr id="256011" name="Text Box 11"/>
          <p:cNvSpPr txBox="1">
            <a:spLocks noChangeArrowheads="1"/>
          </p:cNvSpPr>
          <p:nvPr/>
        </p:nvSpPr>
        <p:spPr bwMode="auto">
          <a:xfrm>
            <a:off x="1695881" y="3430807"/>
            <a:ext cx="65453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 dirty="0" err="1">
                <a:latin typeface="+mn-lt"/>
              </a:rPr>
              <a:t>Fungsi</a:t>
            </a:r>
            <a:r>
              <a:rPr lang="en-US" sz="1800" dirty="0">
                <a:latin typeface="+mn-lt"/>
              </a:rPr>
              <a:t> f(x) </a:t>
            </a:r>
            <a:r>
              <a:rPr lang="en-US" sz="1800" dirty="0" err="1">
                <a:latin typeface="+mn-lt"/>
              </a:rPr>
              <a:t>dapat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dituliskan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sebagai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komposisi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dua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fungsi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atau</a:t>
            </a:r>
            <a:endParaRPr lang="en-US" sz="1800" dirty="0">
              <a:latin typeface="+mn-lt"/>
            </a:endParaRPr>
          </a:p>
        </p:txBody>
      </p:sp>
      <p:sp>
        <p:nvSpPr>
          <p:cNvPr id="256012" name="Text Box 12"/>
          <p:cNvSpPr txBox="1">
            <a:spLocks noChangeArrowheads="1"/>
          </p:cNvSpPr>
          <p:nvPr/>
        </p:nvSpPr>
        <p:spPr bwMode="auto">
          <a:xfrm>
            <a:off x="1695881" y="4345207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dengan</a:t>
            </a:r>
          </a:p>
        </p:txBody>
      </p:sp>
      <p:sp>
        <p:nvSpPr>
          <p:cNvPr id="256013" name="Text Box 13"/>
          <p:cNvSpPr txBox="1">
            <a:spLocks noChangeArrowheads="1"/>
          </p:cNvSpPr>
          <p:nvPr/>
        </p:nvSpPr>
        <p:spPr bwMode="auto">
          <a:xfrm>
            <a:off x="1789665" y="5412007"/>
            <a:ext cx="7122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cs typeface="Tahoma" charset="0"/>
              </a:defRPr>
            </a:lvl9pPr>
          </a:lstStyle>
          <a:p>
            <a:r>
              <a:rPr lang="en-US" sz="1800">
                <a:latin typeface="+mn-lt"/>
              </a:rPr>
              <a:t>Karena h(x) kontinu di R-{-4,1} dan g(x) kontinu dimana-mana maka</a:t>
            </a:r>
          </a:p>
          <a:p>
            <a:r>
              <a:rPr lang="en-US" sz="1800">
                <a:latin typeface="+mn-lt"/>
              </a:rPr>
              <a:t>fungsi f(x) kontinu di R-{-4,1}</a:t>
            </a:r>
          </a:p>
        </p:txBody>
      </p:sp>
    </p:spTree>
    <p:extLst>
      <p:ext uri="{BB962C8B-B14F-4D97-AF65-F5344CB8AC3E}">
        <p14:creationId xmlns:p14="http://schemas.microsoft.com/office/powerpoint/2010/main" val="212784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5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5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5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5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/>
      <p:bldP spid="256008" grpId="0"/>
      <p:bldP spid="256009" grpId="0"/>
      <p:bldP spid="256010" grpId="0"/>
      <p:bldP spid="256011" grpId="0"/>
      <p:bldP spid="256012" grpId="0"/>
      <p:bldP spid="256013" grpId="0"/>
    </p:bldLst>
  </p:timing>
</p:sld>
</file>

<file path=ppt/theme/theme1.xml><?xml version="1.0" encoding="utf-8"?>
<a:theme xmlns:a="http://schemas.openxmlformats.org/drawingml/2006/main" name="template_informatika_slid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7A3B2BD7D686488A9B6009AB8FC602" ma:contentTypeVersion="3" ma:contentTypeDescription="Create a new document." ma:contentTypeScope="" ma:versionID="15fd8ed0fcc513c1c5d5564e466e6338">
  <xsd:schema xmlns:xsd="http://www.w3.org/2001/XMLSchema" xmlns:xs="http://www.w3.org/2001/XMLSchema" xmlns:p="http://schemas.microsoft.com/office/2006/metadata/properties" xmlns:ns2="0b2182c7-3c0f-4302-969c-14405100b056" targetNamespace="http://schemas.microsoft.com/office/2006/metadata/properties" ma:root="true" ma:fieldsID="d137895c48e3a9eea7600dc3c7afee27" ns2:_="">
    <xsd:import namespace="0b2182c7-3c0f-4302-969c-14405100b0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2182c7-3c0f-4302-969c-14405100b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0DA060-A4D2-4623-B6A2-07ACF6EEA659}"/>
</file>

<file path=customXml/itemProps2.xml><?xml version="1.0" encoding="utf-8"?>
<ds:datastoreItem xmlns:ds="http://schemas.openxmlformats.org/officeDocument/2006/customXml" ds:itemID="{B6A73ED3-B120-4DD3-8FA7-A8E093DDDB82}"/>
</file>

<file path=customXml/itemProps3.xml><?xml version="1.0" encoding="utf-8"?>
<ds:datastoreItem xmlns:ds="http://schemas.openxmlformats.org/officeDocument/2006/customXml" ds:itemID="{7D48F5BD-BF44-41C2-A1FD-22311F889AA6}"/>
</file>

<file path=docProps/app.xml><?xml version="1.0" encoding="utf-8"?>
<Properties xmlns="http://schemas.openxmlformats.org/officeDocument/2006/extended-properties" xmlns:vt="http://schemas.openxmlformats.org/officeDocument/2006/docPropsVTypes">
  <TotalTime>7639</TotalTime>
  <Words>677</Words>
  <Application>Microsoft Office PowerPoint</Application>
  <PresentationFormat>Custom</PresentationFormat>
  <Paragraphs>139</Paragraphs>
  <Slides>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template_informatika_slide</vt:lpstr>
      <vt:lpstr>Microsoft Equation 3.0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Kekontinuan pada interval </vt:lpstr>
      <vt:lpstr>PowerPoint Presentation</vt:lpstr>
      <vt:lpstr>PowerPoint Presentation</vt:lpstr>
      <vt:lpstr>Limit dan Kekontinuan Fungsi Komposisi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IFG412  Tugas Akhir I (Seminar Proposal) Pengantar Kuliah</dc:title>
  <dc:creator>ASUS</dc:creator>
  <cp:lastModifiedBy>ismail - [2010]</cp:lastModifiedBy>
  <cp:revision>181</cp:revision>
  <dcterms:modified xsi:type="dcterms:W3CDTF">2018-12-19T02:38:37Z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0x010100AA7A3B2BD7D686488A9B6009AB8FC602</vt:lpwstr>
  </property>
</Properties>
</file>